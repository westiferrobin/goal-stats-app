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5143500" cx="9144000"/>
  <p:notesSz cx="6858000" cy="9144000"/>
  <p:embeddedFontLst>
    <p:embeddedFont>
      <p:font typeface="Montserrat"/>
      <p:regular r:id="rId18"/>
      <p:bold r:id="rId19"/>
      <p:italic r:id="rId20"/>
      <p:boldItalic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22" roundtripDataSignature="AMtx7mjA14vrpJPlmPw/72nc5j92o65Ew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Montserrat-italic.fntdata"/><Relationship Id="rId11" Type="http://schemas.openxmlformats.org/officeDocument/2006/relationships/slide" Target="slides/slide6.xml"/><Relationship Id="rId22" Type="http://customschemas.google.com/relationships/presentationmetadata" Target="metadata"/><Relationship Id="rId10" Type="http://schemas.openxmlformats.org/officeDocument/2006/relationships/slide" Target="slides/slide5.xml"/><Relationship Id="rId21" Type="http://schemas.openxmlformats.org/officeDocument/2006/relationships/font" Target="fonts/Montserrat-boldItalic.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Montserrat-bold.fntdata"/><Relationship Id="rId6" Type="http://schemas.openxmlformats.org/officeDocument/2006/relationships/slide" Target="slides/slide1.xml"/><Relationship Id="rId18" Type="http://schemas.openxmlformats.org/officeDocument/2006/relationships/font" Target="fonts/Montserrat-regular.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9" name="Google Shape;59;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5" name="Google Shape;65;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1" name="Google Shape;81;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6" name="Google Shape;106;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h9b4c58a32700f6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5" name="Google Shape;115;h9b4c58a32700f6a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3" name="Google Shape;123;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h9b4c58a32700f6a_1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3" name="Google Shape;133;h9b4c58a32700f6a_1_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1" name="Google Shape;141;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1" name="Google Shape;151;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8" name="Google Shape;158;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5" name="Google Shape;165;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14"/>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14"/>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15"/>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5" name="Google Shape;15;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1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8" name="Google Shape;18;p1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9" name="Google Shape;19;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1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17"/>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3" name="Google Shape;23;p17"/>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 name="Google Shape;24;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1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19"/>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 name="Google Shape;30;p19"/>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1" name="Google Shape;31;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20"/>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2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21"/>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p21"/>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21"/>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0" name="Google Shape;40;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22"/>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3" name="Google Shape;43;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23"/>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23"/>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7" name="Google Shape;47;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2.png"/><Relationship Id="rId4" Type="http://schemas.openxmlformats.org/officeDocument/2006/relationships/image" Target="../media/image1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9.png"/><Relationship Id="rId4" Type="http://schemas.openxmlformats.org/officeDocument/2006/relationships/image" Target="../media/image1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9.png"/><Relationship Id="rId4" Type="http://schemas.openxmlformats.org/officeDocument/2006/relationships/image" Target="../media/image1.jpg"/><Relationship Id="rId9" Type="http://schemas.openxmlformats.org/officeDocument/2006/relationships/image" Target="../media/image13.png"/><Relationship Id="rId5" Type="http://schemas.openxmlformats.org/officeDocument/2006/relationships/image" Target="../media/image3.jpg"/><Relationship Id="rId6" Type="http://schemas.openxmlformats.org/officeDocument/2006/relationships/image" Target="../media/image5.jpg"/><Relationship Id="rId7" Type="http://schemas.openxmlformats.org/officeDocument/2006/relationships/image" Target="../media/image11.png"/><Relationship Id="rId8" Type="http://schemas.openxmlformats.org/officeDocument/2006/relationships/image" Target="../media/image1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9.png"/><Relationship Id="rId4" Type="http://schemas.openxmlformats.org/officeDocument/2006/relationships/image" Target="../media/image6.jpg"/><Relationship Id="rId10" Type="http://schemas.openxmlformats.org/officeDocument/2006/relationships/image" Target="../media/image4.jpg"/><Relationship Id="rId9" Type="http://schemas.openxmlformats.org/officeDocument/2006/relationships/image" Target="../media/image8.jpg"/><Relationship Id="rId5" Type="http://schemas.openxmlformats.org/officeDocument/2006/relationships/image" Target="../media/image15.jpg"/><Relationship Id="rId6" Type="http://schemas.openxmlformats.org/officeDocument/2006/relationships/image" Target="../media/image2.jpg"/><Relationship Id="rId7" Type="http://schemas.openxmlformats.org/officeDocument/2006/relationships/image" Target="../media/image10.jpg"/><Relationship Id="rId8" Type="http://schemas.openxmlformats.org/officeDocument/2006/relationships/image" Target="../media/image7.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9.png"/><Relationship Id="rId4"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9.png"/><Relationship Id="rId4" Type="http://schemas.openxmlformats.org/officeDocument/2006/relationships/image" Target="../media/image1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9.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9.png"/><Relationship Id="rId4" Type="http://schemas.openxmlformats.org/officeDocument/2006/relationships/image" Target="../media/image2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9.png"/><Relationship Id="rId4" Type="http://schemas.openxmlformats.org/officeDocument/2006/relationships/image" Target="../media/image2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9.png"/><Relationship Id="rId4" Type="http://schemas.openxmlformats.org/officeDocument/2006/relationships/image" Target="../media/image2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9.png"/><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9.png"/><Relationship Id="rId4"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id="54" name="Google Shape;54;p1" title="Screen Shot 2026-09-14 at 6.50.19 PM.png"/>
          <p:cNvPicPr preferRelativeResize="0"/>
          <p:nvPr/>
        </p:nvPicPr>
        <p:blipFill rotWithShape="1">
          <a:blip r:embed="rId3">
            <a:alphaModFix/>
          </a:blip>
          <a:srcRect b="0" l="0" r="0" t="0"/>
          <a:stretch/>
        </p:blipFill>
        <p:spPr>
          <a:xfrm>
            <a:off x="0" y="17794"/>
            <a:ext cx="9144001" cy="5107913"/>
          </a:xfrm>
          <a:prstGeom prst="rect">
            <a:avLst/>
          </a:prstGeom>
          <a:noFill/>
          <a:ln>
            <a:noFill/>
          </a:ln>
        </p:spPr>
      </p:pic>
      <p:sp>
        <p:nvSpPr>
          <p:cNvPr id="55" name="Google Shape;55;p1"/>
          <p:cNvSpPr txBox="1"/>
          <p:nvPr/>
        </p:nvSpPr>
        <p:spPr>
          <a:xfrm>
            <a:off x="1096975" y="1691200"/>
            <a:ext cx="4408800" cy="212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dk2"/>
                </a:solidFill>
                <a:latin typeface="Arial"/>
                <a:ea typeface="Arial"/>
                <a:cs typeface="Arial"/>
                <a:sym typeface="Arial"/>
              </a:rPr>
              <a:t>Road to the Final</a:t>
            </a:r>
            <a:endParaRPr b="0" i="0" sz="18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 sz="1800" u="none" cap="none" strike="noStrike">
                <a:solidFill>
                  <a:schemeClr val="dk2"/>
                </a:solidFill>
                <a:latin typeface="Arial"/>
                <a:ea typeface="Arial"/>
                <a:cs typeface="Arial"/>
                <a:sym typeface="Arial"/>
              </a:rPr>
              <a:t>Esteban Naranjo</a:t>
            </a:r>
            <a:endParaRPr b="0" i="0" sz="18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 sz="1800" u="none" cap="none" strike="noStrike">
                <a:solidFill>
                  <a:schemeClr val="dk2"/>
                </a:solidFill>
                <a:latin typeface="Arial"/>
                <a:ea typeface="Arial"/>
                <a:cs typeface="Arial"/>
                <a:sym typeface="Arial"/>
              </a:rPr>
              <a:t>Mehla Abebe</a:t>
            </a:r>
            <a:endParaRPr b="0" i="0" sz="18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 sz="1800" u="none" cap="none" strike="noStrike">
                <a:solidFill>
                  <a:schemeClr val="dk2"/>
                </a:solidFill>
                <a:latin typeface="Arial"/>
                <a:ea typeface="Arial"/>
                <a:cs typeface="Arial"/>
                <a:sym typeface="Arial"/>
              </a:rPr>
              <a:t>Nikita Bordbar</a:t>
            </a:r>
            <a:endParaRPr b="0" i="0" sz="18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 sz="1800" u="none" cap="none" strike="noStrike">
                <a:solidFill>
                  <a:schemeClr val="dk2"/>
                </a:solidFill>
                <a:latin typeface="Arial"/>
                <a:ea typeface="Arial"/>
                <a:cs typeface="Arial"/>
                <a:sym typeface="Arial"/>
              </a:rPr>
              <a:t>Wesley Webb (lead)</a:t>
            </a:r>
            <a:endParaRPr b="0" i="0" sz="18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2"/>
              </a:solidFill>
              <a:latin typeface="Arial"/>
              <a:ea typeface="Arial"/>
              <a:cs typeface="Arial"/>
              <a:sym typeface="Arial"/>
            </a:endParaRPr>
          </a:p>
        </p:txBody>
      </p:sp>
      <p:pic>
        <p:nvPicPr>
          <p:cNvPr id="56" name="Google Shape;56;p1" title="Screenshot 2026-10-17 at 6.49.41 PM.png"/>
          <p:cNvPicPr preferRelativeResize="0"/>
          <p:nvPr/>
        </p:nvPicPr>
        <p:blipFill rotWithShape="1">
          <a:blip r:embed="rId4">
            <a:alphaModFix/>
          </a:blip>
          <a:srcRect b="0" l="0" r="0" t="0"/>
          <a:stretch/>
        </p:blipFill>
        <p:spPr>
          <a:xfrm>
            <a:off x="0" y="0"/>
            <a:ext cx="9144003" cy="5237263"/>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pic>
        <p:nvPicPr>
          <p:cNvPr id="61" name="Google Shape;61;p2" title="Screen Shot 2026-09-14 at 6.32.05 PM.png"/>
          <p:cNvPicPr preferRelativeResize="0"/>
          <p:nvPr/>
        </p:nvPicPr>
        <p:blipFill rotWithShape="1">
          <a:blip r:embed="rId3">
            <a:alphaModFix/>
          </a:blip>
          <a:srcRect b="0" l="0" r="0" t="0"/>
          <a:stretch/>
        </p:blipFill>
        <p:spPr>
          <a:xfrm>
            <a:off x="0" y="0"/>
            <a:ext cx="9315225" cy="5143500"/>
          </a:xfrm>
          <a:prstGeom prst="rect">
            <a:avLst/>
          </a:prstGeom>
          <a:noFill/>
          <a:ln>
            <a:noFill/>
          </a:ln>
        </p:spPr>
      </p:pic>
      <p:pic>
        <p:nvPicPr>
          <p:cNvPr id="62" name="Google Shape;62;p2" title="Screenshot 2026-10-17 at 7.02.40 PM.png"/>
          <p:cNvPicPr preferRelativeResize="0"/>
          <p:nvPr/>
        </p:nvPicPr>
        <p:blipFill rotWithShape="1">
          <a:blip r:embed="rId4">
            <a:alphaModFix/>
          </a:blip>
          <a:srcRect b="554" l="0" r="0" t="554"/>
          <a:stretch/>
        </p:blipFill>
        <p:spPr>
          <a:xfrm>
            <a:off x="-63600" y="0"/>
            <a:ext cx="9378825" cy="5143502"/>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pic>
        <p:nvPicPr>
          <p:cNvPr id="67" name="Google Shape;67;p3" title="Screen Shot 2026-09-14 at 6.32.05 PM.png"/>
          <p:cNvPicPr preferRelativeResize="0"/>
          <p:nvPr/>
        </p:nvPicPr>
        <p:blipFill rotWithShape="1">
          <a:blip r:embed="rId3">
            <a:alphaModFix/>
          </a:blip>
          <a:srcRect b="0" l="0" r="0" t="0"/>
          <a:stretch/>
        </p:blipFill>
        <p:spPr>
          <a:xfrm>
            <a:off x="0" y="0"/>
            <a:ext cx="9315225" cy="5143500"/>
          </a:xfrm>
          <a:prstGeom prst="rect">
            <a:avLst/>
          </a:prstGeom>
          <a:noFill/>
          <a:ln>
            <a:noFill/>
          </a:ln>
        </p:spPr>
      </p:pic>
      <p:sp>
        <p:nvSpPr>
          <p:cNvPr id="68" name="Google Shape;68;p3"/>
          <p:cNvSpPr txBox="1"/>
          <p:nvPr/>
        </p:nvSpPr>
        <p:spPr>
          <a:xfrm>
            <a:off x="2115900" y="178700"/>
            <a:ext cx="3290100" cy="415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0" i="0" lang="en" sz="1500" u="none" cap="none" strike="noStrike">
                <a:solidFill>
                  <a:srgbClr val="980000"/>
                </a:solidFill>
                <a:latin typeface="Montserrat"/>
                <a:ea typeface="Montserrat"/>
                <a:cs typeface="Montserrat"/>
                <a:sym typeface="Montserrat"/>
              </a:rPr>
              <a:t>TEAM SQUARED / GOAL STATS</a:t>
            </a:r>
            <a:endParaRPr b="0" i="0" sz="1500" u="none" cap="none" strike="noStrike">
              <a:solidFill>
                <a:srgbClr val="980000"/>
              </a:solidFill>
              <a:latin typeface="Montserrat"/>
              <a:ea typeface="Montserrat"/>
              <a:cs typeface="Montserrat"/>
              <a:sym typeface="Montserrat"/>
            </a:endParaRPr>
          </a:p>
        </p:txBody>
      </p:sp>
      <p:sp>
        <p:nvSpPr>
          <p:cNvPr id="69" name="Google Shape;69;p3"/>
          <p:cNvSpPr txBox="1"/>
          <p:nvPr/>
        </p:nvSpPr>
        <p:spPr>
          <a:xfrm>
            <a:off x="8123450" y="178700"/>
            <a:ext cx="1261200" cy="3231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500"/>
              </a:spcAft>
              <a:buClr>
                <a:srgbClr val="000000"/>
              </a:buClr>
              <a:buSzPts val="1600"/>
              <a:buFont typeface="Arial"/>
              <a:buNone/>
            </a:pPr>
            <a:r>
              <a:rPr b="0" i="0" lang="en" sz="900" u="none" cap="none" strike="noStrike">
                <a:solidFill>
                  <a:srgbClr val="999999"/>
                </a:solidFill>
                <a:highlight>
                  <a:srgbClr val="FFFFFF"/>
                </a:highlight>
                <a:latin typeface="Trebuchet MS"/>
                <a:ea typeface="Trebuchet MS"/>
                <a:cs typeface="Trebuchet MS"/>
                <a:sym typeface="Trebuchet MS"/>
              </a:rPr>
              <a:t>NIKITA BORDBAR</a:t>
            </a:r>
            <a:endParaRPr b="0" i="0" sz="1100" u="none" cap="none" strike="noStrike">
              <a:solidFill>
                <a:srgbClr val="999999"/>
              </a:solidFill>
              <a:latin typeface="Trebuchet MS"/>
              <a:ea typeface="Trebuchet MS"/>
              <a:cs typeface="Trebuchet MS"/>
              <a:sym typeface="Trebuchet MS"/>
            </a:endParaRPr>
          </a:p>
        </p:txBody>
      </p:sp>
      <p:sp>
        <p:nvSpPr>
          <p:cNvPr id="70" name="Google Shape;70;p3"/>
          <p:cNvSpPr txBox="1"/>
          <p:nvPr/>
        </p:nvSpPr>
        <p:spPr>
          <a:xfrm>
            <a:off x="179250" y="1185175"/>
            <a:ext cx="39981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dk2"/>
                </a:solidFill>
                <a:latin typeface="Montserrat"/>
                <a:ea typeface="Montserrat"/>
                <a:cs typeface="Montserrat"/>
                <a:sym typeface="Montserrat"/>
              </a:rPr>
              <a:t>Player &amp; Team </a:t>
            </a:r>
            <a:r>
              <a:rPr b="0" i="0" lang="en" sz="1800" u="none" cap="none" strike="noStrike">
                <a:solidFill>
                  <a:srgbClr val="980000"/>
                </a:solidFill>
                <a:latin typeface="Montserrat"/>
                <a:ea typeface="Montserrat"/>
                <a:cs typeface="Montserrat"/>
                <a:sym typeface="Montserrat"/>
              </a:rPr>
              <a:t>Statistics</a:t>
            </a:r>
            <a:endParaRPr b="0" i="0" sz="1800" u="none" cap="none" strike="noStrike">
              <a:solidFill>
                <a:srgbClr val="980000"/>
              </a:solidFill>
              <a:latin typeface="Montserrat"/>
              <a:ea typeface="Montserrat"/>
              <a:cs typeface="Montserrat"/>
              <a:sym typeface="Montserrat"/>
            </a:endParaRPr>
          </a:p>
        </p:txBody>
      </p:sp>
      <p:sp>
        <p:nvSpPr>
          <p:cNvPr id="71" name="Google Shape;71;p3"/>
          <p:cNvSpPr txBox="1"/>
          <p:nvPr/>
        </p:nvSpPr>
        <p:spPr>
          <a:xfrm>
            <a:off x="179250" y="1646875"/>
            <a:ext cx="3699600" cy="2370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dk2"/>
                </a:solidFill>
                <a:latin typeface="Montserrat"/>
                <a:ea typeface="Montserrat"/>
                <a:cs typeface="Montserrat"/>
                <a:sym typeface="Montserrat"/>
              </a:rPr>
              <a:t>Our Research Focus </a:t>
            </a:r>
            <a:endParaRPr b="0" i="0" sz="1200" u="none" cap="none" strike="noStrike">
              <a:solidFill>
                <a:schemeClr val="dk2"/>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2"/>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chemeClr val="dk2"/>
                </a:solidFill>
                <a:latin typeface="Montserrat"/>
                <a:ea typeface="Montserrat"/>
                <a:cs typeface="Montserrat"/>
                <a:sym typeface="Montserrat"/>
              </a:rPr>
              <a:t>       Data Sources</a:t>
            </a:r>
            <a:endParaRPr b="1" i="0" sz="1200" u="none" cap="none" strike="noStrike">
              <a:solidFill>
                <a:schemeClr val="dk2"/>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chemeClr val="dk2"/>
                </a:solidFill>
                <a:latin typeface="Montserrat"/>
                <a:ea typeface="Montserrat"/>
                <a:cs typeface="Montserrat"/>
                <a:sym typeface="Montserrat"/>
              </a:rPr>
              <a:t>         StatsBomb, Kaggle, FIFA</a:t>
            </a:r>
            <a:endParaRPr b="0" i="0" sz="1000" u="none" cap="none" strike="noStrike">
              <a:solidFill>
                <a:schemeClr val="dk2"/>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chemeClr val="dk2"/>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chemeClr val="dk2"/>
                </a:solidFill>
                <a:latin typeface="Montserrat"/>
                <a:ea typeface="Montserrat"/>
                <a:cs typeface="Montserrat"/>
                <a:sym typeface="Montserrat"/>
              </a:rPr>
              <a:t>        </a:t>
            </a:r>
            <a:r>
              <a:rPr b="1" i="0" lang="en" sz="1200" u="none" cap="none" strike="noStrike">
                <a:solidFill>
                  <a:schemeClr val="dk2"/>
                </a:solidFill>
                <a:latin typeface="Montserrat"/>
                <a:ea typeface="Montserrat"/>
                <a:cs typeface="Montserrat"/>
                <a:sym typeface="Montserrat"/>
              </a:rPr>
              <a:t>Key Statistics</a:t>
            </a:r>
            <a:endParaRPr b="1" i="0" sz="1200" u="none" cap="none" strike="noStrike">
              <a:solidFill>
                <a:schemeClr val="dk2"/>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chemeClr val="dk2"/>
                </a:solidFill>
                <a:latin typeface="Montserrat"/>
                <a:ea typeface="Montserrat"/>
                <a:cs typeface="Montserrat"/>
                <a:sym typeface="Montserrat"/>
              </a:rPr>
              <a:t>         Goals scored, match results, team performance</a:t>
            </a:r>
            <a:endParaRPr b="0" i="0" sz="1000" u="none" cap="none" strike="noStrike">
              <a:solidFill>
                <a:schemeClr val="dk2"/>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chemeClr val="dk2"/>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chemeClr val="dk2"/>
                </a:solidFill>
                <a:latin typeface="Montserrat"/>
                <a:ea typeface="Montserrat"/>
                <a:cs typeface="Montserrat"/>
                <a:sym typeface="Montserrat"/>
              </a:rPr>
              <a:t>       Data Reliability</a:t>
            </a:r>
            <a:endParaRPr b="1" i="0" sz="1200" u="none" cap="none" strike="noStrike">
              <a:solidFill>
                <a:schemeClr val="dk2"/>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chemeClr val="dk2"/>
                </a:solidFill>
                <a:latin typeface="Montserrat"/>
                <a:ea typeface="Montserrat"/>
                <a:cs typeface="Montserrat"/>
                <a:sym typeface="Montserrat"/>
              </a:rPr>
              <a:t>       </a:t>
            </a:r>
            <a:r>
              <a:rPr b="0" i="0" lang="en" sz="1000" u="none" cap="none" strike="noStrike">
                <a:solidFill>
                  <a:schemeClr val="dk2"/>
                </a:solidFill>
                <a:latin typeface="Montserrat"/>
                <a:ea typeface="Montserrat"/>
                <a:cs typeface="Montserrat"/>
                <a:sym typeface="Montserrat"/>
              </a:rPr>
              <a:t>Verify accuracy and relevance</a:t>
            </a:r>
            <a:endParaRPr b="0" i="0" sz="1000" u="none" cap="none" strike="noStrike">
              <a:solidFill>
                <a:schemeClr val="dk2"/>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chemeClr val="dk2"/>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chemeClr val="dk2"/>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chemeClr val="dk2"/>
                </a:solidFill>
                <a:latin typeface="Montserrat"/>
                <a:ea typeface="Montserrat"/>
                <a:cs typeface="Montserrat"/>
                <a:sym typeface="Montserrat"/>
              </a:rPr>
              <a:t> </a:t>
            </a:r>
            <a:endParaRPr b="0" i="0" sz="1000" u="none" cap="none" strike="noStrike">
              <a:solidFill>
                <a:schemeClr val="dk2"/>
              </a:solidFill>
              <a:latin typeface="Montserrat"/>
              <a:ea typeface="Montserrat"/>
              <a:cs typeface="Montserrat"/>
              <a:sym typeface="Montserrat"/>
            </a:endParaRPr>
          </a:p>
        </p:txBody>
      </p:sp>
      <p:pic>
        <p:nvPicPr>
          <p:cNvPr descr="server (Provided by Getty Images)" id="72" name="Google Shape;72;p3"/>
          <p:cNvPicPr preferRelativeResize="0"/>
          <p:nvPr/>
        </p:nvPicPr>
        <p:blipFill rotWithShape="1">
          <a:blip r:embed="rId4">
            <a:alphaModFix/>
          </a:blip>
          <a:srcRect b="0" l="0" r="0" t="0"/>
          <a:stretch/>
        </p:blipFill>
        <p:spPr>
          <a:xfrm>
            <a:off x="215450" y="2116600"/>
            <a:ext cx="323098" cy="323098"/>
          </a:xfrm>
          <a:prstGeom prst="rect">
            <a:avLst/>
          </a:prstGeom>
          <a:noFill/>
          <a:ln>
            <a:noFill/>
          </a:ln>
        </p:spPr>
      </p:pic>
      <p:pic>
        <p:nvPicPr>
          <p:cNvPr descr="chart (Provided by Getty Images)" id="73" name="Google Shape;73;p3"/>
          <p:cNvPicPr preferRelativeResize="0"/>
          <p:nvPr/>
        </p:nvPicPr>
        <p:blipFill rotWithShape="1">
          <a:blip r:embed="rId5">
            <a:alphaModFix/>
          </a:blip>
          <a:srcRect b="0" l="0" r="0" t="0"/>
          <a:stretch/>
        </p:blipFill>
        <p:spPr>
          <a:xfrm>
            <a:off x="215450" y="2594988"/>
            <a:ext cx="323098" cy="323098"/>
          </a:xfrm>
          <a:prstGeom prst="rect">
            <a:avLst/>
          </a:prstGeom>
          <a:noFill/>
          <a:ln>
            <a:noFill/>
          </a:ln>
        </p:spPr>
      </p:pic>
      <p:pic>
        <p:nvPicPr>
          <p:cNvPr descr="check (Provided by Getty Images)" id="74" name="Google Shape;74;p3"/>
          <p:cNvPicPr preferRelativeResize="0"/>
          <p:nvPr/>
        </p:nvPicPr>
        <p:blipFill rotWithShape="1">
          <a:blip r:embed="rId6">
            <a:alphaModFix/>
          </a:blip>
          <a:srcRect b="0" l="0" r="0" t="0"/>
          <a:stretch/>
        </p:blipFill>
        <p:spPr>
          <a:xfrm>
            <a:off x="215450" y="3073376"/>
            <a:ext cx="323098" cy="323098"/>
          </a:xfrm>
          <a:prstGeom prst="rect">
            <a:avLst/>
          </a:prstGeom>
          <a:noFill/>
          <a:ln>
            <a:noFill/>
          </a:ln>
        </p:spPr>
      </p:pic>
      <p:pic>
        <p:nvPicPr>
          <p:cNvPr id="75" name="Google Shape;75;p3" title="Screen Shot 2026-10-18 at 6.07.45 PM.png"/>
          <p:cNvPicPr preferRelativeResize="0"/>
          <p:nvPr/>
        </p:nvPicPr>
        <p:blipFill rotWithShape="1">
          <a:blip r:embed="rId7">
            <a:alphaModFix/>
          </a:blip>
          <a:srcRect b="0" l="0" r="0" t="0"/>
          <a:stretch/>
        </p:blipFill>
        <p:spPr>
          <a:xfrm>
            <a:off x="6216460" y="774937"/>
            <a:ext cx="2927529" cy="1796825"/>
          </a:xfrm>
          <a:prstGeom prst="rect">
            <a:avLst/>
          </a:prstGeom>
          <a:noFill/>
          <a:ln>
            <a:noFill/>
          </a:ln>
        </p:spPr>
      </p:pic>
      <p:pic>
        <p:nvPicPr>
          <p:cNvPr id="76" name="Google Shape;76;p3" title="Screen Shot 2026-10-18 at 6.10.48 PM.png"/>
          <p:cNvPicPr preferRelativeResize="0"/>
          <p:nvPr/>
        </p:nvPicPr>
        <p:blipFill rotWithShape="1">
          <a:blip r:embed="rId8">
            <a:alphaModFix/>
          </a:blip>
          <a:srcRect b="2687" l="0" r="0" t="2687"/>
          <a:stretch/>
        </p:blipFill>
        <p:spPr>
          <a:xfrm>
            <a:off x="3128550" y="774925"/>
            <a:ext cx="3014999" cy="1664775"/>
          </a:xfrm>
          <a:prstGeom prst="rect">
            <a:avLst/>
          </a:prstGeom>
          <a:noFill/>
          <a:ln>
            <a:noFill/>
          </a:ln>
        </p:spPr>
      </p:pic>
      <p:pic>
        <p:nvPicPr>
          <p:cNvPr id="77" name="Google Shape;77;p3" title="Screen Shot 2026-10-18 at 6.14.35 PM.png"/>
          <p:cNvPicPr preferRelativeResize="0"/>
          <p:nvPr/>
        </p:nvPicPr>
        <p:blipFill rotWithShape="1">
          <a:blip r:embed="rId9">
            <a:alphaModFix/>
          </a:blip>
          <a:srcRect b="10437" l="0" r="0" t="10437"/>
          <a:stretch/>
        </p:blipFill>
        <p:spPr>
          <a:xfrm>
            <a:off x="5889850" y="2706101"/>
            <a:ext cx="3254151" cy="1796825"/>
          </a:xfrm>
          <a:prstGeom prst="rect">
            <a:avLst/>
          </a:prstGeom>
          <a:noFill/>
          <a:ln>
            <a:noFill/>
          </a:ln>
        </p:spPr>
      </p:pic>
      <p:sp>
        <p:nvSpPr>
          <p:cNvPr id="78" name="Google Shape;78;p3"/>
          <p:cNvSpPr/>
          <p:nvPr/>
        </p:nvSpPr>
        <p:spPr>
          <a:xfrm>
            <a:off x="215450" y="4225450"/>
            <a:ext cx="5003100" cy="461700"/>
          </a:xfrm>
          <a:prstGeom prst="roundRect">
            <a:avLst>
              <a:gd fmla="val 16667" name="adj"/>
            </a:avLst>
          </a:prstGeom>
          <a:solidFill>
            <a:srgbClr val="E6B8A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0" i="0" lang="en" sz="900" u="none" cap="none" strike="noStrike">
                <a:solidFill>
                  <a:schemeClr val="dk2"/>
                </a:solidFill>
                <a:latin typeface="Montserrat"/>
                <a:ea typeface="Montserrat"/>
                <a:cs typeface="Montserrat"/>
                <a:sym typeface="Montserrat"/>
              </a:rPr>
              <a:t>Research Goal –</a:t>
            </a:r>
            <a:r>
              <a:rPr b="1" i="0" lang="en" sz="900" u="none" cap="none" strike="noStrike">
                <a:solidFill>
                  <a:schemeClr val="dk2"/>
                </a:solidFill>
                <a:latin typeface="Montserrat"/>
                <a:ea typeface="Montserrat"/>
                <a:cs typeface="Montserrat"/>
                <a:sym typeface="Montserrat"/>
              </a:rPr>
              <a:t> Identify reliable football statistics to support team comparisons and match predictions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pic>
        <p:nvPicPr>
          <p:cNvPr id="83" name="Google Shape;83;p4" title="Screen Shot 2026-09-14 at 6.32.05 PM.png"/>
          <p:cNvPicPr preferRelativeResize="0"/>
          <p:nvPr/>
        </p:nvPicPr>
        <p:blipFill rotWithShape="1">
          <a:blip r:embed="rId3">
            <a:alphaModFix/>
          </a:blip>
          <a:srcRect b="0" l="0" r="0" t="0"/>
          <a:stretch/>
        </p:blipFill>
        <p:spPr>
          <a:xfrm>
            <a:off x="0" y="0"/>
            <a:ext cx="9315225" cy="5143500"/>
          </a:xfrm>
          <a:prstGeom prst="rect">
            <a:avLst/>
          </a:prstGeom>
          <a:noFill/>
          <a:ln>
            <a:noFill/>
          </a:ln>
        </p:spPr>
      </p:pic>
      <p:sp>
        <p:nvSpPr>
          <p:cNvPr id="84" name="Google Shape;84;p4"/>
          <p:cNvSpPr txBox="1"/>
          <p:nvPr/>
        </p:nvSpPr>
        <p:spPr>
          <a:xfrm>
            <a:off x="2115900" y="178700"/>
            <a:ext cx="3290100" cy="415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0" i="0" lang="en" sz="1500" u="none" cap="none" strike="noStrike">
                <a:solidFill>
                  <a:srgbClr val="980000"/>
                </a:solidFill>
                <a:latin typeface="Montserrat"/>
                <a:ea typeface="Montserrat"/>
                <a:cs typeface="Montserrat"/>
                <a:sym typeface="Montserrat"/>
              </a:rPr>
              <a:t>TEAM SQUARED / GOAL STATS</a:t>
            </a:r>
            <a:endParaRPr b="0" i="0" sz="1500" u="none" cap="none" strike="noStrike">
              <a:solidFill>
                <a:srgbClr val="980000"/>
              </a:solidFill>
              <a:latin typeface="Montserrat"/>
              <a:ea typeface="Montserrat"/>
              <a:cs typeface="Montserrat"/>
              <a:sym typeface="Montserrat"/>
            </a:endParaRPr>
          </a:p>
        </p:txBody>
      </p:sp>
      <p:sp>
        <p:nvSpPr>
          <p:cNvPr id="85" name="Google Shape;85;p4"/>
          <p:cNvSpPr txBox="1"/>
          <p:nvPr/>
        </p:nvSpPr>
        <p:spPr>
          <a:xfrm>
            <a:off x="8123450" y="178700"/>
            <a:ext cx="1261200" cy="3231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500"/>
              </a:spcAft>
              <a:buClr>
                <a:srgbClr val="000000"/>
              </a:buClr>
              <a:buSzPts val="1600"/>
              <a:buFont typeface="Arial"/>
              <a:buNone/>
            </a:pPr>
            <a:r>
              <a:rPr b="0" i="0" lang="en" sz="900" u="none" cap="none" strike="noStrike">
                <a:solidFill>
                  <a:srgbClr val="999999"/>
                </a:solidFill>
                <a:highlight>
                  <a:srgbClr val="FFFFFF"/>
                </a:highlight>
                <a:latin typeface="Trebuchet MS"/>
                <a:ea typeface="Trebuchet MS"/>
                <a:cs typeface="Trebuchet MS"/>
                <a:sym typeface="Trebuchet MS"/>
              </a:rPr>
              <a:t>NIKITA BORDBAR</a:t>
            </a:r>
            <a:endParaRPr b="0" i="0" sz="1100" u="none" cap="none" strike="noStrike">
              <a:solidFill>
                <a:srgbClr val="999999"/>
              </a:solidFill>
              <a:latin typeface="Trebuchet MS"/>
              <a:ea typeface="Trebuchet MS"/>
              <a:cs typeface="Trebuchet MS"/>
              <a:sym typeface="Trebuchet MS"/>
            </a:endParaRPr>
          </a:p>
        </p:txBody>
      </p:sp>
      <p:sp>
        <p:nvSpPr>
          <p:cNvPr id="86" name="Google Shape;86;p4"/>
          <p:cNvSpPr txBox="1"/>
          <p:nvPr/>
        </p:nvSpPr>
        <p:spPr>
          <a:xfrm>
            <a:off x="137600" y="1199075"/>
            <a:ext cx="50601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dk2"/>
                </a:solidFill>
                <a:latin typeface="Montserrat"/>
                <a:ea typeface="Montserrat"/>
                <a:cs typeface="Montserrat"/>
                <a:sym typeface="Montserrat"/>
              </a:rPr>
              <a:t>How Statistics Support </a:t>
            </a:r>
            <a:r>
              <a:rPr b="0" i="0" lang="en" sz="1800" u="none" cap="none" strike="noStrike">
                <a:solidFill>
                  <a:srgbClr val="980000"/>
                </a:solidFill>
                <a:latin typeface="Montserrat"/>
                <a:ea typeface="Montserrat"/>
                <a:cs typeface="Montserrat"/>
                <a:sym typeface="Montserrat"/>
              </a:rPr>
              <a:t>Match Predictions</a:t>
            </a:r>
            <a:endParaRPr b="0" i="0" sz="1800" u="none" cap="none" strike="noStrike">
              <a:solidFill>
                <a:srgbClr val="980000"/>
              </a:solidFill>
              <a:latin typeface="Montserrat"/>
              <a:ea typeface="Montserrat"/>
              <a:cs typeface="Montserrat"/>
              <a:sym typeface="Montserrat"/>
            </a:endParaRPr>
          </a:p>
        </p:txBody>
      </p:sp>
      <p:sp>
        <p:nvSpPr>
          <p:cNvPr id="87" name="Google Shape;87;p4"/>
          <p:cNvSpPr txBox="1"/>
          <p:nvPr/>
        </p:nvSpPr>
        <p:spPr>
          <a:xfrm>
            <a:off x="234775" y="1619125"/>
            <a:ext cx="3900900" cy="3047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dk2"/>
                </a:solidFill>
                <a:latin typeface="Montserrat"/>
                <a:ea typeface="Montserrat"/>
                <a:cs typeface="Montserrat"/>
                <a:sym typeface="Montserrat"/>
              </a:rPr>
              <a:t>Our Prediction Research </a:t>
            </a:r>
            <a:endParaRPr b="0" i="0" sz="1200" u="none" cap="none" strike="noStrike">
              <a:solidFill>
                <a:schemeClr val="dk2"/>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2"/>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chemeClr val="dk2"/>
                </a:solidFill>
                <a:latin typeface="Montserrat"/>
                <a:ea typeface="Montserrat"/>
                <a:cs typeface="Montserrat"/>
                <a:sym typeface="Montserrat"/>
              </a:rPr>
              <a:t>       Historical Performance</a:t>
            </a:r>
            <a:endParaRPr b="1" i="0" sz="1200" u="none" cap="none" strike="noStrike">
              <a:solidFill>
                <a:schemeClr val="dk2"/>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chemeClr val="dk2"/>
                </a:solidFill>
                <a:latin typeface="Montserrat"/>
                <a:ea typeface="Montserrat"/>
                <a:cs typeface="Montserrat"/>
                <a:sym typeface="Montserrat"/>
              </a:rPr>
              <a:t>         Analyze past results, goals, and scoring trends</a:t>
            </a:r>
            <a:endParaRPr b="0" i="0" sz="1000" u="none" cap="none" strike="noStrike">
              <a:solidFill>
                <a:schemeClr val="dk2"/>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chemeClr val="dk2"/>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chemeClr val="dk2"/>
                </a:solidFill>
                <a:latin typeface="Montserrat"/>
                <a:ea typeface="Montserrat"/>
                <a:cs typeface="Montserrat"/>
                <a:sym typeface="Montserrat"/>
              </a:rPr>
              <a:t>        </a:t>
            </a:r>
            <a:r>
              <a:rPr b="1" i="0" lang="en" sz="1200" u="none" cap="none" strike="noStrike">
                <a:solidFill>
                  <a:schemeClr val="dk2"/>
                </a:solidFill>
                <a:latin typeface="Montserrat"/>
                <a:ea typeface="Montserrat"/>
                <a:cs typeface="Montserrat"/>
                <a:sym typeface="Montserrat"/>
              </a:rPr>
              <a:t>Team Comparisons</a:t>
            </a:r>
            <a:endParaRPr b="1" i="0" sz="1200" u="none" cap="none" strike="noStrike">
              <a:solidFill>
                <a:schemeClr val="dk2"/>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chemeClr val="dk2"/>
                </a:solidFill>
                <a:latin typeface="Montserrat"/>
                <a:ea typeface="Montserrat"/>
                <a:cs typeface="Montserrat"/>
                <a:sym typeface="Montserrat"/>
              </a:rPr>
              <a:t>         Compare performance between two national teams</a:t>
            </a:r>
            <a:endParaRPr b="0" i="0" sz="1000" u="none" cap="none" strike="noStrike">
              <a:solidFill>
                <a:schemeClr val="dk2"/>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chemeClr val="dk2"/>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chemeClr val="dk2"/>
                </a:solidFill>
                <a:latin typeface="Montserrat"/>
                <a:ea typeface="Montserrat"/>
                <a:cs typeface="Montserrat"/>
                <a:sym typeface="Montserrat"/>
              </a:rPr>
              <a:t>       Prediction Model Inputs</a:t>
            </a:r>
            <a:endParaRPr b="1" i="0" sz="1200" u="none" cap="none" strike="noStrike">
              <a:solidFill>
                <a:schemeClr val="dk2"/>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chemeClr val="dk2"/>
                </a:solidFill>
                <a:latin typeface="Montserrat"/>
                <a:ea typeface="Montserrat"/>
                <a:cs typeface="Montserrat"/>
                <a:sym typeface="Montserrat"/>
              </a:rPr>
              <a:t>       </a:t>
            </a:r>
            <a:r>
              <a:rPr b="0" i="0" lang="en" sz="1000" u="none" cap="none" strike="noStrike">
                <a:solidFill>
                  <a:schemeClr val="dk2"/>
                </a:solidFill>
                <a:latin typeface="Montserrat"/>
                <a:ea typeface="Montserrat"/>
                <a:cs typeface="Montserrat"/>
                <a:sym typeface="Montserrat"/>
              </a:rPr>
              <a:t>Identify useful statistics and missing data</a:t>
            </a:r>
            <a:endParaRPr b="0" i="0" sz="1000" u="none" cap="none" strike="noStrike">
              <a:solidFill>
                <a:schemeClr val="dk2"/>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chemeClr val="dk2"/>
              </a:solidFill>
              <a:latin typeface="Montserrat"/>
              <a:ea typeface="Montserrat"/>
              <a:cs typeface="Montserrat"/>
              <a:sym typeface="Montserrat"/>
            </a:endParaRPr>
          </a:p>
          <a:p>
            <a:pPr indent="0" lvl="0" marL="0" marR="0" rtl="0" algn="l">
              <a:lnSpc>
                <a:spcPct val="100000"/>
              </a:lnSpc>
              <a:spcBef>
                <a:spcPts val="0"/>
              </a:spcBef>
              <a:spcAft>
                <a:spcPts val="0"/>
              </a:spcAft>
              <a:buClr>
                <a:schemeClr val="dk1"/>
              </a:buClr>
              <a:buSzPts val="1100"/>
              <a:buFont typeface="Arial"/>
              <a:buNone/>
            </a:pPr>
            <a:r>
              <a:rPr b="1" i="0" lang="en" sz="1200" u="none" cap="none" strike="noStrike">
                <a:solidFill>
                  <a:schemeClr val="dk2"/>
                </a:solidFill>
                <a:latin typeface="Montserrat"/>
                <a:ea typeface="Montserrat"/>
                <a:cs typeface="Montserrat"/>
                <a:sym typeface="Montserrat"/>
              </a:rPr>
              <a:t>       Development Collaboration</a:t>
            </a:r>
            <a:endParaRPr b="1" i="0" sz="1200" u="none" cap="none" strike="noStrike">
              <a:solidFill>
                <a:schemeClr val="dk2"/>
              </a:solidFill>
              <a:latin typeface="Montserrat"/>
              <a:ea typeface="Montserrat"/>
              <a:cs typeface="Montserrat"/>
              <a:sym typeface="Montserrat"/>
            </a:endParaRPr>
          </a:p>
          <a:p>
            <a:pPr indent="0" lvl="0" marL="0" marR="0" rtl="0" algn="l">
              <a:lnSpc>
                <a:spcPct val="100000"/>
              </a:lnSpc>
              <a:spcBef>
                <a:spcPts val="0"/>
              </a:spcBef>
              <a:spcAft>
                <a:spcPts val="0"/>
              </a:spcAft>
              <a:buClr>
                <a:schemeClr val="dk1"/>
              </a:buClr>
              <a:buSzPts val="1100"/>
              <a:buFont typeface="Arial"/>
              <a:buNone/>
            </a:pPr>
            <a:r>
              <a:rPr b="1" i="0" lang="en" sz="1200" u="none" cap="none" strike="noStrike">
                <a:solidFill>
                  <a:schemeClr val="dk2"/>
                </a:solidFill>
                <a:latin typeface="Montserrat"/>
                <a:ea typeface="Montserrat"/>
                <a:cs typeface="Montserrat"/>
                <a:sym typeface="Montserrat"/>
              </a:rPr>
              <a:t>       </a:t>
            </a:r>
            <a:r>
              <a:rPr b="0" i="0" lang="en" sz="1000" u="none" cap="none" strike="noStrike">
                <a:solidFill>
                  <a:schemeClr val="dk2"/>
                </a:solidFill>
                <a:latin typeface="Montserrat"/>
                <a:ea typeface="Montserrat"/>
                <a:cs typeface="Montserrat"/>
                <a:sym typeface="Montserrat"/>
              </a:rPr>
              <a:t>Coordinate with the database and application team</a:t>
            </a:r>
            <a:endParaRPr b="0" i="0" sz="1000" u="none" cap="none" strike="noStrike">
              <a:solidFill>
                <a:schemeClr val="dk2"/>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chemeClr val="dk2"/>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chemeClr val="dk2"/>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chemeClr val="dk2"/>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chemeClr val="dk2"/>
                </a:solidFill>
                <a:latin typeface="Montserrat"/>
                <a:ea typeface="Montserrat"/>
                <a:cs typeface="Montserrat"/>
                <a:sym typeface="Montserrat"/>
              </a:rPr>
              <a:t> </a:t>
            </a:r>
            <a:endParaRPr b="0" i="0" sz="1000" u="none" cap="none" strike="noStrike">
              <a:solidFill>
                <a:schemeClr val="dk2"/>
              </a:solidFill>
              <a:latin typeface="Montserrat"/>
              <a:ea typeface="Montserrat"/>
              <a:cs typeface="Montserrat"/>
              <a:sym typeface="Montserrat"/>
            </a:endParaRPr>
          </a:p>
        </p:txBody>
      </p:sp>
      <p:pic>
        <p:nvPicPr>
          <p:cNvPr descr="graph (Provided by Getty Images)" id="88" name="Google Shape;88;p4"/>
          <p:cNvPicPr preferRelativeResize="0"/>
          <p:nvPr/>
        </p:nvPicPr>
        <p:blipFill rotWithShape="1">
          <a:blip r:embed="rId4">
            <a:alphaModFix/>
          </a:blip>
          <a:srcRect b="0" l="0" r="0" t="0"/>
          <a:stretch/>
        </p:blipFill>
        <p:spPr>
          <a:xfrm>
            <a:off x="234775" y="2049750"/>
            <a:ext cx="366024" cy="366024"/>
          </a:xfrm>
          <a:prstGeom prst="rect">
            <a:avLst/>
          </a:prstGeom>
          <a:noFill/>
          <a:ln>
            <a:noFill/>
          </a:ln>
        </p:spPr>
      </p:pic>
      <p:pic>
        <p:nvPicPr>
          <p:cNvPr descr="Scales icon vector. Isolated contour symbol illustration (Provided by Getty Images)" id="89" name="Google Shape;89;p4"/>
          <p:cNvPicPr preferRelativeResize="0"/>
          <p:nvPr/>
        </p:nvPicPr>
        <p:blipFill rotWithShape="1">
          <a:blip r:embed="rId5">
            <a:alphaModFix/>
          </a:blip>
          <a:srcRect b="0" l="0" r="0" t="0"/>
          <a:stretch/>
        </p:blipFill>
        <p:spPr>
          <a:xfrm>
            <a:off x="137600" y="2499626"/>
            <a:ext cx="461701" cy="461701"/>
          </a:xfrm>
          <a:prstGeom prst="rect">
            <a:avLst/>
          </a:prstGeom>
          <a:noFill/>
          <a:ln>
            <a:noFill/>
          </a:ln>
        </p:spPr>
      </p:pic>
      <p:pic>
        <p:nvPicPr>
          <p:cNvPr descr="glass (Provided by Getty Images)" id="90" name="Google Shape;90;p4"/>
          <p:cNvPicPr preferRelativeResize="0"/>
          <p:nvPr/>
        </p:nvPicPr>
        <p:blipFill rotWithShape="1">
          <a:blip r:embed="rId6">
            <a:alphaModFix/>
          </a:blip>
          <a:srcRect b="0" l="0" r="0" t="0"/>
          <a:stretch/>
        </p:blipFill>
        <p:spPr>
          <a:xfrm>
            <a:off x="185438" y="3045176"/>
            <a:ext cx="366024" cy="366024"/>
          </a:xfrm>
          <a:prstGeom prst="rect">
            <a:avLst/>
          </a:prstGeom>
          <a:noFill/>
          <a:ln>
            <a:noFill/>
          </a:ln>
        </p:spPr>
      </p:pic>
      <p:pic>
        <p:nvPicPr>
          <p:cNvPr descr="company team glyph icon vector illustration (Provided by Getty Images)" id="91" name="Google Shape;91;p4"/>
          <p:cNvPicPr preferRelativeResize="0"/>
          <p:nvPr/>
        </p:nvPicPr>
        <p:blipFill rotWithShape="1">
          <a:blip r:embed="rId7">
            <a:alphaModFix/>
          </a:blip>
          <a:srcRect b="0" l="0" r="0" t="0"/>
          <a:stretch/>
        </p:blipFill>
        <p:spPr>
          <a:xfrm>
            <a:off x="137600" y="3495051"/>
            <a:ext cx="461701" cy="461701"/>
          </a:xfrm>
          <a:prstGeom prst="rect">
            <a:avLst/>
          </a:prstGeom>
          <a:noFill/>
          <a:ln>
            <a:noFill/>
          </a:ln>
        </p:spPr>
      </p:pic>
      <p:sp>
        <p:nvSpPr>
          <p:cNvPr id="92" name="Google Shape;92;p4"/>
          <p:cNvSpPr/>
          <p:nvPr/>
        </p:nvSpPr>
        <p:spPr>
          <a:xfrm>
            <a:off x="5725350" y="1619125"/>
            <a:ext cx="3179100" cy="28563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 name="Google Shape;93;p4"/>
          <p:cNvSpPr/>
          <p:nvPr/>
        </p:nvSpPr>
        <p:spPr>
          <a:xfrm>
            <a:off x="5954400" y="1900125"/>
            <a:ext cx="1179900" cy="5994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 name="Google Shape;94;p4"/>
          <p:cNvSpPr/>
          <p:nvPr/>
        </p:nvSpPr>
        <p:spPr>
          <a:xfrm>
            <a:off x="7453425" y="1900125"/>
            <a:ext cx="1179900" cy="5994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 name="Google Shape;95;p4"/>
          <p:cNvSpPr txBox="1"/>
          <p:nvPr/>
        </p:nvSpPr>
        <p:spPr>
          <a:xfrm>
            <a:off x="6436800" y="1619125"/>
            <a:ext cx="19539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1" i="0" lang="en" sz="1100" u="none" cap="none" strike="noStrike">
                <a:solidFill>
                  <a:schemeClr val="dk2"/>
                </a:solidFill>
                <a:latin typeface="Montserrat"/>
                <a:ea typeface="Montserrat"/>
                <a:cs typeface="Montserrat"/>
                <a:sym typeface="Montserrat"/>
              </a:rPr>
              <a:t>Example: USA vs. Spain</a:t>
            </a:r>
            <a:endParaRPr b="1" i="0" sz="1100" u="none" cap="none" strike="noStrike">
              <a:solidFill>
                <a:schemeClr val="dk2"/>
              </a:solidFill>
              <a:latin typeface="Montserrat"/>
              <a:ea typeface="Montserrat"/>
              <a:cs typeface="Montserrat"/>
              <a:sym typeface="Montserrat"/>
            </a:endParaRPr>
          </a:p>
        </p:txBody>
      </p:sp>
      <p:pic>
        <p:nvPicPr>
          <p:cNvPr descr="Flag of United States of America, detail (Provided by Getty Images)" id="96" name="Google Shape;96;p4"/>
          <p:cNvPicPr preferRelativeResize="0"/>
          <p:nvPr/>
        </p:nvPicPr>
        <p:blipFill rotWithShape="1">
          <a:blip r:embed="rId8">
            <a:alphaModFix/>
          </a:blip>
          <a:srcRect b="0" l="0" r="0" t="0"/>
          <a:stretch/>
        </p:blipFill>
        <p:spPr>
          <a:xfrm>
            <a:off x="5954400" y="1900125"/>
            <a:ext cx="1179899" cy="599399"/>
          </a:xfrm>
          <a:prstGeom prst="rect">
            <a:avLst/>
          </a:prstGeom>
          <a:noFill/>
          <a:ln>
            <a:noFill/>
          </a:ln>
        </p:spPr>
      </p:pic>
      <p:pic>
        <p:nvPicPr>
          <p:cNvPr descr="Spanish Flag (Provided by Getty Images)" id="97" name="Google Shape;97;p4"/>
          <p:cNvPicPr preferRelativeResize="0"/>
          <p:nvPr/>
        </p:nvPicPr>
        <p:blipFill rotWithShape="1">
          <a:blip r:embed="rId9">
            <a:alphaModFix/>
          </a:blip>
          <a:srcRect b="0" l="0" r="0" t="0"/>
          <a:stretch/>
        </p:blipFill>
        <p:spPr>
          <a:xfrm>
            <a:off x="7453425" y="1900125"/>
            <a:ext cx="1179899" cy="599399"/>
          </a:xfrm>
          <a:prstGeom prst="rect">
            <a:avLst/>
          </a:prstGeom>
          <a:noFill/>
          <a:ln>
            <a:noFill/>
          </a:ln>
        </p:spPr>
      </p:pic>
      <p:sp>
        <p:nvSpPr>
          <p:cNvPr id="98" name="Google Shape;98;p4"/>
          <p:cNvSpPr txBox="1"/>
          <p:nvPr/>
        </p:nvSpPr>
        <p:spPr>
          <a:xfrm>
            <a:off x="6212850" y="2571750"/>
            <a:ext cx="2401800" cy="1031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chemeClr val="dk2"/>
                </a:solidFill>
                <a:latin typeface="Montserrat"/>
                <a:ea typeface="Montserrat"/>
                <a:cs typeface="Montserrat"/>
                <a:sym typeface="Montserrat"/>
              </a:rPr>
              <a:t>Historical match results</a:t>
            </a:r>
            <a:endParaRPr b="0" i="0" sz="1100" u="none" cap="none" strike="noStrike">
              <a:solidFill>
                <a:schemeClr val="dk2"/>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2"/>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chemeClr val="dk2"/>
                </a:solidFill>
                <a:latin typeface="Montserrat"/>
                <a:ea typeface="Montserrat"/>
                <a:cs typeface="Montserrat"/>
                <a:sym typeface="Montserrat"/>
              </a:rPr>
              <a:t>Goals scored and conceded</a:t>
            </a:r>
            <a:endParaRPr b="0" i="0" sz="1100" u="none" cap="none" strike="noStrike">
              <a:solidFill>
                <a:schemeClr val="dk2"/>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2"/>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chemeClr val="dk2"/>
                </a:solidFill>
                <a:latin typeface="Montserrat"/>
                <a:ea typeface="Montserrat"/>
                <a:cs typeface="Montserrat"/>
                <a:sym typeface="Montserrat"/>
              </a:rPr>
              <a:t>Recent team performance</a:t>
            </a:r>
            <a:endParaRPr b="0" i="0" sz="1100" u="none" cap="none" strike="noStrike">
              <a:solidFill>
                <a:schemeClr val="dk2"/>
              </a:solidFill>
              <a:latin typeface="Montserrat"/>
              <a:ea typeface="Montserrat"/>
              <a:cs typeface="Montserrat"/>
              <a:sym typeface="Montserrat"/>
            </a:endParaRPr>
          </a:p>
        </p:txBody>
      </p:sp>
      <p:pic>
        <p:nvPicPr>
          <p:cNvPr descr="tick (Provided by Getty Images)" id="99" name="Google Shape;99;p4"/>
          <p:cNvPicPr preferRelativeResize="0"/>
          <p:nvPr/>
        </p:nvPicPr>
        <p:blipFill rotWithShape="1">
          <a:blip r:embed="rId10">
            <a:alphaModFix/>
          </a:blip>
          <a:srcRect b="0" l="0" r="0" t="0"/>
          <a:stretch/>
        </p:blipFill>
        <p:spPr>
          <a:xfrm>
            <a:off x="5954400" y="2568925"/>
            <a:ext cx="323098" cy="323098"/>
          </a:xfrm>
          <a:prstGeom prst="rect">
            <a:avLst/>
          </a:prstGeom>
          <a:noFill/>
          <a:ln>
            <a:noFill/>
          </a:ln>
        </p:spPr>
      </p:pic>
      <p:pic>
        <p:nvPicPr>
          <p:cNvPr descr="tick (Provided by Getty Images)" id="100" name="Google Shape;100;p4"/>
          <p:cNvPicPr preferRelativeResize="0"/>
          <p:nvPr/>
        </p:nvPicPr>
        <p:blipFill rotWithShape="1">
          <a:blip r:embed="rId10">
            <a:alphaModFix/>
          </a:blip>
          <a:srcRect b="0" l="0" r="0" t="0"/>
          <a:stretch/>
        </p:blipFill>
        <p:spPr>
          <a:xfrm>
            <a:off x="5954400" y="2925900"/>
            <a:ext cx="323098" cy="323098"/>
          </a:xfrm>
          <a:prstGeom prst="rect">
            <a:avLst/>
          </a:prstGeom>
          <a:noFill/>
          <a:ln>
            <a:noFill/>
          </a:ln>
        </p:spPr>
      </p:pic>
      <p:pic>
        <p:nvPicPr>
          <p:cNvPr descr="tick (Provided by Getty Images)" id="101" name="Google Shape;101;p4"/>
          <p:cNvPicPr preferRelativeResize="0"/>
          <p:nvPr/>
        </p:nvPicPr>
        <p:blipFill rotWithShape="1">
          <a:blip r:embed="rId10">
            <a:alphaModFix/>
          </a:blip>
          <a:srcRect b="0" l="0" r="0" t="0"/>
          <a:stretch/>
        </p:blipFill>
        <p:spPr>
          <a:xfrm>
            <a:off x="5954400" y="3282875"/>
            <a:ext cx="323098" cy="323098"/>
          </a:xfrm>
          <a:prstGeom prst="rect">
            <a:avLst/>
          </a:prstGeom>
          <a:noFill/>
          <a:ln>
            <a:noFill/>
          </a:ln>
        </p:spPr>
      </p:pic>
      <p:sp>
        <p:nvSpPr>
          <p:cNvPr id="102" name="Google Shape;102;p4"/>
          <p:cNvSpPr/>
          <p:nvPr/>
        </p:nvSpPr>
        <p:spPr>
          <a:xfrm>
            <a:off x="5885000" y="3818325"/>
            <a:ext cx="2943000" cy="415500"/>
          </a:xfrm>
          <a:prstGeom prst="roundRect">
            <a:avLst>
              <a:gd fmla="val 16667" name="adj"/>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chemeClr val="dk2"/>
                </a:solidFill>
                <a:latin typeface="Montserrat"/>
                <a:ea typeface="Montserrat"/>
                <a:cs typeface="Montserrat"/>
                <a:sym typeface="Montserrat"/>
              </a:rPr>
              <a:t>Potential Match Prediction</a:t>
            </a:r>
            <a:endParaRPr b="0" i="0" sz="800" u="none" cap="none" strike="noStrike">
              <a:solidFill>
                <a:schemeClr val="dk2"/>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chemeClr val="dk2"/>
                </a:solidFill>
                <a:latin typeface="Montserrat"/>
                <a:ea typeface="Montserrat"/>
                <a:cs typeface="Montserrat"/>
                <a:sym typeface="Montserrat"/>
              </a:rPr>
              <a:t>Hypothetical output - not an actual prediction</a:t>
            </a:r>
            <a:endParaRPr b="0" i="0" sz="800" u="none" cap="none" strike="noStrike">
              <a:solidFill>
                <a:schemeClr val="dk2"/>
              </a:solidFill>
              <a:latin typeface="Montserrat"/>
              <a:ea typeface="Montserrat"/>
              <a:cs typeface="Montserrat"/>
              <a:sym typeface="Montserrat"/>
            </a:endParaRPr>
          </a:p>
        </p:txBody>
      </p:sp>
      <p:sp>
        <p:nvSpPr>
          <p:cNvPr id="103" name="Google Shape;103;p4"/>
          <p:cNvSpPr/>
          <p:nvPr/>
        </p:nvSpPr>
        <p:spPr>
          <a:xfrm>
            <a:off x="234775" y="4233825"/>
            <a:ext cx="5074200" cy="415500"/>
          </a:xfrm>
          <a:prstGeom prst="roundRect">
            <a:avLst>
              <a:gd fmla="val 16667" name="adj"/>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chemeClr val="dk2"/>
                </a:solidFill>
                <a:latin typeface="Montserrat"/>
                <a:ea typeface="Montserrat"/>
                <a:cs typeface="Montserrat"/>
                <a:sym typeface="Montserrat"/>
              </a:rPr>
              <a:t>Research Goal – </a:t>
            </a:r>
            <a:r>
              <a:rPr b="1" i="0" lang="en" sz="800" u="none" cap="none" strike="noStrike">
                <a:solidFill>
                  <a:schemeClr val="dk2"/>
                </a:solidFill>
                <a:latin typeface="Montserrat"/>
                <a:ea typeface="Montserrat"/>
                <a:cs typeface="Montserrat"/>
                <a:sym typeface="Montserrat"/>
              </a:rPr>
              <a:t>Transform reliable football statistics into meaningful match comparisons and predictions</a:t>
            </a:r>
            <a:endParaRPr b="1" i="0" sz="800" u="none" cap="none" strike="noStrike">
              <a:solidFill>
                <a:schemeClr val="dk2"/>
              </a:solidFill>
              <a:latin typeface="Montserrat"/>
              <a:ea typeface="Montserrat"/>
              <a:cs typeface="Montserrat"/>
              <a:sym typeface="Montserra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pic>
        <p:nvPicPr>
          <p:cNvPr id="108" name="Google Shape;108;p5" title="Screen Shot 2026-09-14 at 6.32.05 PM.png"/>
          <p:cNvPicPr preferRelativeResize="0"/>
          <p:nvPr/>
        </p:nvPicPr>
        <p:blipFill rotWithShape="1">
          <a:blip r:embed="rId3">
            <a:alphaModFix/>
          </a:blip>
          <a:srcRect b="0" l="0" r="0" t="0"/>
          <a:stretch/>
        </p:blipFill>
        <p:spPr>
          <a:xfrm>
            <a:off x="0" y="0"/>
            <a:ext cx="9315225" cy="5143500"/>
          </a:xfrm>
          <a:prstGeom prst="rect">
            <a:avLst/>
          </a:prstGeom>
          <a:noFill/>
          <a:ln>
            <a:noFill/>
          </a:ln>
        </p:spPr>
      </p:pic>
      <p:sp>
        <p:nvSpPr>
          <p:cNvPr id="109" name="Google Shape;109;p5"/>
          <p:cNvSpPr txBox="1"/>
          <p:nvPr/>
        </p:nvSpPr>
        <p:spPr>
          <a:xfrm>
            <a:off x="7771175" y="4332675"/>
            <a:ext cx="14736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500"/>
              </a:spcAft>
              <a:buClr>
                <a:srgbClr val="000000"/>
              </a:buClr>
              <a:buSzPts val="1600"/>
              <a:buFont typeface="Arial"/>
              <a:buNone/>
            </a:pPr>
            <a:r>
              <a:rPr b="0" i="0" lang="en" sz="1100" u="none" cap="none" strike="noStrike">
                <a:solidFill>
                  <a:srgbClr val="231F20"/>
                </a:solidFill>
                <a:highlight>
                  <a:srgbClr val="FFFFFF"/>
                </a:highlight>
                <a:latin typeface="Arial"/>
                <a:ea typeface="Arial"/>
                <a:cs typeface="Arial"/>
                <a:sym typeface="Arial"/>
              </a:rPr>
              <a:t>Mehla Abebe</a:t>
            </a:r>
            <a:endParaRPr b="0" i="0" sz="1100" u="none" cap="none" strike="noStrike">
              <a:solidFill>
                <a:srgbClr val="231F20"/>
              </a:solidFill>
              <a:highlight>
                <a:srgbClr val="FFFFFF"/>
              </a:highlight>
              <a:latin typeface="Arial"/>
              <a:ea typeface="Arial"/>
              <a:cs typeface="Arial"/>
              <a:sym typeface="Arial"/>
            </a:endParaRPr>
          </a:p>
        </p:txBody>
      </p:sp>
      <p:sp>
        <p:nvSpPr>
          <p:cNvPr id="110" name="Google Shape;110;p5"/>
          <p:cNvSpPr txBox="1"/>
          <p:nvPr/>
        </p:nvSpPr>
        <p:spPr>
          <a:xfrm>
            <a:off x="587300" y="1340800"/>
            <a:ext cx="5493000" cy="2957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0"/>
              </a:spcAft>
              <a:buClr>
                <a:srgbClr val="000000"/>
              </a:buClr>
              <a:buSzPts val="1100"/>
              <a:buFont typeface="Arial"/>
              <a:buNone/>
            </a:pPr>
            <a:r>
              <a:rPr b="1" i="0" lang="en" sz="1100" u="none" cap="none" strike="noStrike">
                <a:solidFill>
                  <a:schemeClr val="dk1"/>
                </a:solidFill>
                <a:latin typeface="Arial"/>
                <a:ea typeface="Arial"/>
                <a:cs typeface="Arial"/>
                <a:sym typeface="Arial"/>
              </a:rPr>
              <a:t> Data Preparation</a:t>
            </a:r>
            <a:endParaRPr b="1" i="0" sz="11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rgbClr val="000000"/>
              </a:buClr>
              <a:buSzPts val="1100"/>
              <a:buFont typeface="Arial"/>
              <a:buNone/>
            </a:pPr>
            <a:r>
              <a:rPr b="0" i="0" lang="en" sz="1100" u="none" cap="none" strike="noStrike">
                <a:solidFill>
                  <a:schemeClr val="dk1"/>
                </a:solidFill>
                <a:latin typeface="Arial"/>
                <a:ea typeface="Arial"/>
                <a:cs typeface="Arial"/>
                <a:sym typeface="Arial"/>
              </a:rPr>
              <a:t>The historical women’s football data was imported using a validated process. The system checked the match records for accuracy, complete team and competition information, valid dates, and nonnegative scores. </a:t>
            </a:r>
            <a:endParaRPr b="0" i="0" sz="11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rgbClr val="000000"/>
              </a:buClr>
              <a:buSzPts val="1100"/>
              <a:buFont typeface="Arial"/>
              <a:buNone/>
            </a:pPr>
            <a:r>
              <a:rPr b="0" i="0" lang="en" sz="1100" u="none" cap="none" strike="noStrike">
                <a:solidFill>
                  <a:schemeClr val="dk1"/>
                </a:solidFill>
                <a:latin typeface="Arial"/>
                <a:ea typeface="Arial"/>
                <a:cs typeface="Arial"/>
                <a:sym typeface="Arial"/>
              </a:rPr>
              <a:t>The data was then organized into separate PostgreSQL tables for Teams, Competitions, Matches, Scenarios, and Predictions. Primary keys and foreign keys connected the tables and reduced unnecessary duplication. </a:t>
            </a:r>
            <a:endParaRPr b="0" i="0" sz="11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1200"/>
              </a:spcAft>
              <a:buClr>
                <a:srgbClr val="000000"/>
              </a:buClr>
              <a:buSzPts val="1100"/>
              <a:buFont typeface="Arial"/>
              <a:buNone/>
            </a:pPr>
            <a:r>
              <a:rPr b="0" i="0" lang="en" sz="1100" u="none" cap="none" strike="noStrike">
                <a:solidFill>
                  <a:schemeClr val="dk1"/>
                </a:solidFill>
                <a:latin typeface="Arial"/>
                <a:ea typeface="Arial"/>
                <a:cs typeface="Arial"/>
                <a:sym typeface="Arial"/>
              </a:rPr>
              <a:t>Finally, the original source details—including the source file, row number, version, and URL were preserved. This made the data traceable and allowed the team to verify where each record came from. User-created prediction scenarios were also validated before being saved.</a:t>
            </a:r>
            <a:endParaRPr b="0" i="0" sz="1100" u="none" cap="none" strike="noStrike">
              <a:solidFill>
                <a:schemeClr val="dk1"/>
              </a:solidFill>
              <a:latin typeface="Arial"/>
              <a:ea typeface="Arial"/>
              <a:cs typeface="Arial"/>
              <a:sym typeface="Arial"/>
            </a:endParaRPr>
          </a:p>
        </p:txBody>
      </p:sp>
      <p:pic>
        <p:nvPicPr>
          <p:cNvPr descr="server (Provided by Getty Images)" id="111" name="Google Shape;111;p5"/>
          <p:cNvPicPr preferRelativeResize="0"/>
          <p:nvPr/>
        </p:nvPicPr>
        <p:blipFill rotWithShape="1">
          <a:blip r:embed="rId4">
            <a:alphaModFix/>
          </a:blip>
          <a:srcRect b="0" l="0" r="0" t="0"/>
          <a:stretch/>
        </p:blipFill>
        <p:spPr>
          <a:xfrm>
            <a:off x="6808600" y="1959552"/>
            <a:ext cx="1561923" cy="1561923"/>
          </a:xfrm>
          <a:prstGeom prst="rect">
            <a:avLst/>
          </a:prstGeom>
          <a:noFill/>
          <a:ln>
            <a:noFill/>
          </a:ln>
        </p:spPr>
      </p:pic>
      <p:sp>
        <p:nvSpPr>
          <p:cNvPr id="112" name="Google Shape;112;p5"/>
          <p:cNvSpPr/>
          <p:nvPr/>
        </p:nvSpPr>
        <p:spPr>
          <a:xfrm>
            <a:off x="7360513" y="1282075"/>
            <a:ext cx="458100" cy="916200"/>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highlight>
                <a:srgbClr val="FF0000"/>
              </a:highlight>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pic>
        <p:nvPicPr>
          <p:cNvPr id="117" name="Google Shape;117;h9b4c58a32700f6a_0_0" title="Screen Shot 2026-09-14 at 6.32.05 PM.png"/>
          <p:cNvPicPr preferRelativeResize="0"/>
          <p:nvPr/>
        </p:nvPicPr>
        <p:blipFill rotWithShape="1">
          <a:blip r:embed="rId3">
            <a:alphaModFix/>
          </a:blip>
          <a:srcRect b="0" l="0" r="0" t="0"/>
          <a:stretch/>
        </p:blipFill>
        <p:spPr>
          <a:xfrm>
            <a:off x="0" y="0"/>
            <a:ext cx="9315225" cy="5143500"/>
          </a:xfrm>
          <a:prstGeom prst="rect">
            <a:avLst/>
          </a:prstGeom>
          <a:noFill/>
          <a:ln>
            <a:noFill/>
          </a:ln>
        </p:spPr>
      </p:pic>
      <p:sp>
        <p:nvSpPr>
          <p:cNvPr id="118" name="Google Shape;118;h9b4c58a32700f6a_0_0"/>
          <p:cNvSpPr txBox="1"/>
          <p:nvPr/>
        </p:nvSpPr>
        <p:spPr>
          <a:xfrm>
            <a:off x="7771175" y="4332675"/>
            <a:ext cx="14736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500"/>
              </a:spcAft>
              <a:buClr>
                <a:srgbClr val="000000"/>
              </a:buClr>
              <a:buSzPts val="1600"/>
              <a:buFont typeface="Arial"/>
              <a:buNone/>
            </a:pPr>
            <a:r>
              <a:rPr b="0" i="0" lang="en" sz="1100" u="none" cap="none" strike="noStrike">
                <a:solidFill>
                  <a:srgbClr val="231F20"/>
                </a:solidFill>
                <a:highlight>
                  <a:srgbClr val="FFFFFF"/>
                </a:highlight>
                <a:latin typeface="Arial"/>
                <a:ea typeface="Arial"/>
                <a:cs typeface="Arial"/>
                <a:sym typeface="Arial"/>
              </a:rPr>
              <a:t>Mehla Abebe</a:t>
            </a:r>
            <a:endParaRPr b="0" i="0" sz="1100" u="none" cap="none" strike="noStrike">
              <a:solidFill>
                <a:srgbClr val="231F20"/>
              </a:solidFill>
              <a:highlight>
                <a:srgbClr val="FFFFFF"/>
              </a:highlight>
              <a:latin typeface="Arial"/>
              <a:ea typeface="Arial"/>
              <a:cs typeface="Arial"/>
              <a:sym typeface="Arial"/>
            </a:endParaRPr>
          </a:p>
        </p:txBody>
      </p:sp>
      <p:sp>
        <p:nvSpPr>
          <p:cNvPr id="119" name="Google Shape;119;h9b4c58a32700f6a_0_0"/>
          <p:cNvSpPr txBox="1"/>
          <p:nvPr/>
        </p:nvSpPr>
        <p:spPr>
          <a:xfrm>
            <a:off x="644550" y="1598475"/>
            <a:ext cx="5464500" cy="22551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0"/>
              </a:spcAft>
              <a:buClr>
                <a:srgbClr val="000000"/>
              </a:buClr>
              <a:buSzPts val="1100"/>
              <a:buFont typeface="Arial"/>
              <a:buNone/>
            </a:pPr>
            <a:r>
              <a:rPr b="1" i="0" lang="en" sz="1100" u="none" cap="none" strike="noStrike">
                <a:solidFill>
                  <a:schemeClr val="dk1"/>
                </a:solidFill>
                <a:latin typeface="Arial"/>
                <a:ea typeface="Arial"/>
                <a:cs typeface="Arial"/>
                <a:sym typeface="Arial"/>
              </a:rPr>
              <a:t> Data Preparation </a:t>
            </a:r>
            <a:endParaRPr b="1" i="0" sz="1100" u="none" cap="none" strike="noStrike">
              <a:solidFill>
                <a:schemeClr val="dk1"/>
              </a:solidFill>
              <a:latin typeface="Arial"/>
              <a:ea typeface="Arial"/>
              <a:cs typeface="Arial"/>
              <a:sym typeface="Arial"/>
            </a:endParaRPr>
          </a:p>
          <a:p>
            <a:pPr indent="-298450" lvl="0" marL="457200" marR="0" rtl="0" algn="l">
              <a:lnSpc>
                <a:spcPct val="115000"/>
              </a:lnSpc>
              <a:spcBef>
                <a:spcPts val="1200"/>
              </a:spcBef>
              <a:spcAft>
                <a:spcPts val="0"/>
              </a:spcAft>
              <a:buClr>
                <a:schemeClr val="dk1"/>
              </a:buClr>
              <a:buSzPts val="1100"/>
              <a:buFont typeface="Arial"/>
              <a:buChar char="●"/>
            </a:pPr>
            <a:r>
              <a:rPr b="0" i="0" lang="en" sz="1100" u="none" cap="none" strike="noStrike">
                <a:solidFill>
                  <a:schemeClr val="dk1"/>
                </a:solidFill>
                <a:latin typeface="Arial"/>
                <a:ea typeface="Arial"/>
                <a:cs typeface="Arial"/>
                <a:sym typeface="Arial"/>
              </a:rPr>
              <a:t>Uniqueness constraints -  </a:t>
            </a:r>
            <a:r>
              <a:rPr b="0" i="0" lang="en" sz="1200" u="none" cap="none" strike="noStrike">
                <a:solidFill>
                  <a:schemeClr val="dk1"/>
                </a:solidFill>
                <a:latin typeface="Arial"/>
                <a:ea typeface="Arial"/>
                <a:cs typeface="Arial"/>
                <a:sym typeface="Arial"/>
              </a:rPr>
              <a:t>a database rule that ensures all values in a column or a group of columns are distinct across every row in a table</a:t>
            </a:r>
            <a:r>
              <a:rPr b="0" i="0" lang="en" sz="1100" u="none" cap="none" strike="noStrike">
                <a:solidFill>
                  <a:schemeClr val="dk1"/>
                </a:solidFill>
                <a:latin typeface="Arial"/>
                <a:ea typeface="Arial"/>
                <a:cs typeface="Arial"/>
                <a:sym typeface="Arial"/>
              </a:rPr>
              <a:t> to prevent duplicate records.</a:t>
            </a:r>
            <a:endParaRPr b="0" i="0" sz="1100" u="none" cap="none" strike="noStrike">
              <a:solidFill>
                <a:schemeClr val="dk1"/>
              </a:solidFill>
              <a:latin typeface="Arial"/>
              <a:ea typeface="Arial"/>
              <a:cs typeface="Arial"/>
              <a:sym typeface="Arial"/>
            </a:endParaRPr>
          </a:p>
          <a:p>
            <a:pPr indent="-298450" lvl="0" marL="457200" marR="0" rtl="0" algn="l">
              <a:lnSpc>
                <a:spcPct val="115000"/>
              </a:lnSpc>
              <a:spcBef>
                <a:spcPts val="0"/>
              </a:spcBef>
              <a:spcAft>
                <a:spcPts val="0"/>
              </a:spcAft>
              <a:buClr>
                <a:schemeClr val="dk1"/>
              </a:buClr>
              <a:buSzPts val="1100"/>
              <a:buFont typeface="Arial"/>
              <a:buChar char="●"/>
            </a:pPr>
            <a:r>
              <a:rPr b="0" i="0" lang="en" sz="1100" u="none" cap="none" strike="noStrike">
                <a:solidFill>
                  <a:schemeClr val="dk1"/>
                </a:solidFill>
                <a:latin typeface="Arial"/>
                <a:ea typeface="Arial"/>
                <a:cs typeface="Arial"/>
                <a:sym typeface="Arial"/>
              </a:rPr>
              <a:t>CHECK constraints - another database rule that forces a value to be read as valid only when it meets the given range. This allowed us to prevent invalid values, such as negative scores </a:t>
            </a:r>
            <a:endParaRPr b="0" i="0" sz="1100" u="none" cap="none" strike="noStrike">
              <a:solidFill>
                <a:schemeClr val="dk1"/>
              </a:solidFill>
              <a:latin typeface="Arial"/>
              <a:ea typeface="Arial"/>
              <a:cs typeface="Arial"/>
              <a:sym typeface="Arial"/>
            </a:endParaRPr>
          </a:p>
          <a:p>
            <a:pPr indent="-298450" lvl="0" marL="457200" marR="0" rtl="0" algn="l">
              <a:lnSpc>
                <a:spcPct val="115000"/>
              </a:lnSpc>
              <a:spcBef>
                <a:spcPts val="0"/>
              </a:spcBef>
              <a:spcAft>
                <a:spcPts val="0"/>
              </a:spcAft>
              <a:buClr>
                <a:schemeClr val="dk1"/>
              </a:buClr>
              <a:buSzPts val="1100"/>
              <a:buFont typeface="Arial"/>
              <a:buChar char="●"/>
            </a:pPr>
            <a:r>
              <a:rPr b="0" i="0" lang="en" sz="1100" u="none" cap="none" strike="noStrike">
                <a:solidFill>
                  <a:schemeClr val="dk1"/>
                </a:solidFill>
                <a:latin typeface="Arial"/>
                <a:ea typeface="Arial"/>
                <a:cs typeface="Arial"/>
                <a:sym typeface="Arial"/>
              </a:rPr>
              <a:t>Indexes - help the database find information faster.</a:t>
            </a:r>
            <a:endParaRPr b="0" i="0" sz="11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rgbClr val="000000"/>
              </a:buClr>
              <a:buSzPts val="1100"/>
              <a:buFont typeface="Arial"/>
              <a:buNone/>
            </a:pPr>
            <a:r>
              <a:t/>
            </a:r>
            <a:endParaRPr b="0" i="0" sz="1100" u="none" cap="none" strike="noStrike">
              <a:solidFill>
                <a:schemeClr val="dk1"/>
              </a:solidFill>
              <a:latin typeface="Arial"/>
              <a:ea typeface="Arial"/>
              <a:cs typeface="Arial"/>
              <a:sym typeface="Arial"/>
            </a:endParaRPr>
          </a:p>
        </p:txBody>
      </p:sp>
      <p:pic>
        <p:nvPicPr>
          <p:cNvPr id="120" name="Google Shape;120;h9b4c58a32700f6a_0_0" title="Crimson data cleaning graphic.png"/>
          <p:cNvPicPr preferRelativeResize="0"/>
          <p:nvPr/>
        </p:nvPicPr>
        <p:blipFill rotWithShape="1">
          <a:blip r:embed="rId4">
            <a:alphaModFix/>
          </a:blip>
          <a:srcRect b="7284" l="7951" r="55000" t="15639"/>
          <a:stretch/>
        </p:blipFill>
        <p:spPr>
          <a:xfrm>
            <a:off x="6637275" y="1525150"/>
            <a:ext cx="2315375" cy="23284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pic>
        <p:nvPicPr>
          <p:cNvPr id="125" name="Google Shape;125;p7" title="Screen Shot 2026-09-14 at 6.32.05 PM.png"/>
          <p:cNvPicPr preferRelativeResize="0"/>
          <p:nvPr/>
        </p:nvPicPr>
        <p:blipFill rotWithShape="1">
          <a:blip r:embed="rId3">
            <a:alphaModFix/>
          </a:blip>
          <a:srcRect b="0" l="0" r="0" t="0"/>
          <a:stretch/>
        </p:blipFill>
        <p:spPr>
          <a:xfrm>
            <a:off x="0" y="0"/>
            <a:ext cx="9315225" cy="5143500"/>
          </a:xfrm>
          <a:prstGeom prst="rect">
            <a:avLst/>
          </a:prstGeom>
          <a:noFill/>
          <a:ln>
            <a:noFill/>
          </a:ln>
        </p:spPr>
      </p:pic>
      <p:sp>
        <p:nvSpPr>
          <p:cNvPr id="126" name="Google Shape;126;p7"/>
          <p:cNvSpPr txBox="1"/>
          <p:nvPr/>
        </p:nvSpPr>
        <p:spPr>
          <a:xfrm>
            <a:off x="7771175" y="4332675"/>
            <a:ext cx="13098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500"/>
              </a:spcAft>
              <a:buClr>
                <a:srgbClr val="000000"/>
              </a:buClr>
              <a:buSzPts val="1600"/>
              <a:buFont typeface="Arial"/>
              <a:buNone/>
            </a:pPr>
            <a:r>
              <a:rPr b="0" i="0" lang="en" sz="1600" u="none" cap="none" strike="noStrike">
                <a:solidFill>
                  <a:srgbClr val="231F20"/>
                </a:solidFill>
                <a:highlight>
                  <a:srgbClr val="FFFFFF"/>
                </a:highlight>
                <a:latin typeface="Arial"/>
                <a:ea typeface="Arial"/>
                <a:cs typeface="Arial"/>
                <a:sym typeface="Arial"/>
              </a:rPr>
              <a:t>Wes Webb</a:t>
            </a:r>
            <a:endParaRPr b="0" i="0" sz="1800" u="none" cap="none" strike="noStrike">
              <a:solidFill>
                <a:schemeClr val="dk2"/>
              </a:solidFill>
              <a:latin typeface="Arial"/>
              <a:ea typeface="Arial"/>
              <a:cs typeface="Arial"/>
              <a:sym typeface="Arial"/>
            </a:endParaRPr>
          </a:p>
        </p:txBody>
      </p:sp>
      <p:sp>
        <p:nvSpPr>
          <p:cNvPr id="127" name="Google Shape;127;p7"/>
          <p:cNvSpPr txBox="1"/>
          <p:nvPr/>
        </p:nvSpPr>
        <p:spPr>
          <a:xfrm>
            <a:off x="3066550" y="1266650"/>
            <a:ext cx="3182100" cy="28038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0"/>
              </a:spcAft>
              <a:buClr>
                <a:srgbClr val="000000"/>
              </a:buClr>
              <a:buSzPts val="1100"/>
              <a:buFont typeface="Arial"/>
              <a:buNone/>
            </a:pPr>
            <a:r>
              <a:rPr b="1" i="0" lang="en" sz="1100" u="none" cap="none" strike="noStrike">
                <a:solidFill>
                  <a:schemeClr val="dk1"/>
                </a:solidFill>
                <a:latin typeface="Arial"/>
                <a:ea typeface="Arial"/>
                <a:cs typeface="Arial"/>
                <a:sym typeface="Arial"/>
              </a:rPr>
              <a:t>PostgreSQL: Five Relational Tables</a:t>
            </a:r>
            <a:endParaRPr b="1" i="0" sz="1300" u="none" cap="none" strike="noStrike">
              <a:solidFill>
                <a:schemeClr val="dk1"/>
              </a:solidFill>
              <a:latin typeface="Arial"/>
              <a:ea typeface="Arial"/>
              <a:cs typeface="Arial"/>
              <a:sym typeface="Arial"/>
            </a:endParaRPr>
          </a:p>
          <a:p>
            <a:pPr indent="-298450" lvl="0" marL="457200" marR="0" rtl="0" algn="l">
              <a:lnSpc>
                <a:spcPct val="115000"/>
              </a:lnSpc>
              <a:spcBef>
                <a:spcPts val="1200"/>
              </a:spcBef>
              <a:spcAft>
                <a:spcPts val="0"/>
              </a:spcAft>
              <a:buClr>
                <a:schemeClr val="dk1"/>
              </a:buClr>
              <a:buSzPts val="1100"/>
              <a:buFont typeface="Arial"/>
              <a:buChar char="●"/>
            </a:pPr>
            <a:r>
              <a:rPr b="1" i="0" lang="en" sz="1100" u="none" cap="none" strike="noStrike">
                <a:solidFill>
                  <a:schemeClr val="dk1"/>
                </a:solidFill>
                <a:latin typeface="Arial"/>
                <a:ea typeface="Arial"/>
                <a:cs typeface="Arial"/>
                <a:sym typeface="Arial"/>
              </a:rPr>
              <a:t>Teams:</a:t>
            </a:r>
            <a:r>
              <a:rPr b="0" i="0" lang="en" sz="1100" u="none" cap="none" strike="noStrike">
                <a:solidFill>
                  <a:schemeClr val="dk1"/>
                </a:solidFill>
                <a:latin typeface="Arial"/>
                <a:ea typeface="Arial"/>
                <a:cs typeface="Arial"/>
                <a:sym typeface="Arial"/>
              </a:rPr>
              <a:t> National teams and available ratings.</a:t>
            </a:r>
            <a:endParaRPr b="0" i="0" sz="1100" u="none" cap="none" strike="noStrike">
              <a:solidFill>
                <a:schemeClr val="dk1"/>
              </a:solidFill>
              <a:latin typeface="Arial"/>
              <a:ea typeface="Arial"/>
              <a:cs typeface="Arial"/>
              <a:sym typeface="Arial"/>
            </a:endParaRPr>
          </a:p>
          <a:p>
            <a:pPr indent="-298450" lvl="0" marL="457200" marR="0" rtl="0" algn="l">
              <a:lnSpc>
                <a:spcPct val="115000"/>
              </a:lnSpc>
              <a:spcBef>
                <a:spcPts val="0"/>
              </a:spcBef>
              <a:spcAft>
                <a:spcPts val="0"/>
              </a:spcAft>
              <a:buClr>
                <a:schemeClr val="dk1"/>
              </a:buClr>
              <a:buSzPts val="1100"/>
              <a:buFont typeface="Arial"/>
              <a:buChar char="●"/>
            </a:pPr>
            <a:r>
              <a:rPr b="1" i="0" lang="en" sz="1100" u="none" cap="none" strike="noStrike">
                <a:solidFill>
                  <a:schemeClr val="dk1"/>
                </a:solidFill>
                <a:latin typeface="Arial"/>
                <a:ea typeface="Arial"/>
                <a:cs typeface="Arial"/>
                <a:sym typeface="Arial"/>
              </a:rPr>
              <a:t>Competitions:</a:t>
            </a:r>
            <a:r>
              <a:rPr b="0" i="0" lang="en" sz="1100" u="none" cap="none" strike="noStrike">
                <a:solidFill>
                  <a:schemeClr val="dk1"/>
                </a:solidFill>
                <a:latin typeface="Arial"/>
                <a:ea typeface="Arial"/>
                <a:cs typeface="Arial"/>
                <a:sym typeface="Arial"/>
              </a:rPr>
              <a:t> Women's World Cup editions.</a:t>
            </a:r>
            <a:endParaRPr b="0" i="0" sz="1100" u="none" cap="none" strike="noStrike">
              <a:solidFill>
                <a:schemeClr val="dk1"/>
              </a:solidFill>
              <a:latin typeface="Arial"/>
              <a:ea typeface="Arial"/>
              <a:cs typeface="Arial"/>
              <a:sym typeface="Arial"/>
            </a:endParaRPr>
          </a:p>
          <a:p>
            <a:pPr indent="-298450" lvl="0" marL="457200" marR="0" rtl="0" algn="l">
              <a:lnSpc>
                <a:spcPct val="115000"/>
              </a:lnSpc>
              <a:spcBef>
                <a:spcPts val="0"/>
              </a:spcBef>
              <a:spcAft>
                <a:spcPts val="0"/>
              </a:spcAft>
              <a:buClr>
                <a:schemeClr val="dk1"/>
              </a:buClr>
              <a:buSzPts val="1100"/>
              <a:buFont typeface="Arial"/>
              <a:buChar char="●"/>
            </a:pPr>
            <a:r>
              <a:rPr b="1" i="0" lang="en" sz="1100" u="none" cap="none" strike="noStrike">
                <a:solidFill>
                  <a:schemeClr val="dk1"/>
                </a:solidFill>
                <a:latin typeface="Arial"/>
                <a:ea typeface="Arial"/>
                <a:cs typeface="Arial"/>
                <a:sym typeface="Arial"/>
              </a:rPr>
              <a:t>Matches:</a:t>
            </a:r>
            <a:r>
              <a:rPr b="0" i="0" lang="en" sz="1100" u="none" cap="none" strike="noStrike">
                <a:solidFill>
                  <a:schemeClr val="dk1"/>
                </a:solidFill>
                <a:latin typeface="Arial"/>
                <a:ea typeface="Arial"/>
                <a:cs typeface="Arial"/>
                <a:sym typeface="Arial"/>
              </a:rPr>
              <a:t> Historical results linked to teams and competitions.</a:t>
            </a:r>
            <a:endParaRPr b="0" i="0" sz="1100" u="none" cap="none" strike="noStrike">
              <a:solidFill>
                <a:schemeClr val="dk1"/>
              </a:solidFill>
              <a:latin typeface="Arial"/>
              <a:ea typeface="Arial"/>
              <a:cs typeface="Arial"/>
              <a:sym typeface="Arial"/>
            </a:endParaRPr>
          </a:p>
          <a:p>
            <a:pPr indent="-298450" lvl="0" marL="457200" marR="0" rtl="0" algn="l">
              <a:lnSpc>
                <a:spcPct val="115000"/>
              </a:lnSpc>
              <a:spcBef>
                <a:spcPts val="0"/>
              </a:spcBef>
              <a:spcAft>
                <a:spcPts val="0"/>
              </a:spcAft>
              <a:buClr>
                <a:schemeClr val="dk1"/>
              </a:buClr>
              <a:buSzPts val="1100"/>
              <a:buFont typeface="Arial"/>
              <a:buChar char="●"/>
            </a:pPr>
            <a:r>
              <a:rPr b="1" i="0" lang="en" sz="1100" u="none" cap="none" strike="noStrike">
                <a:solidFill>
                  <a:schemeClr val="dk1"/>
                </a:solidFill>
                <a:latin typeface="Arial"/>
                <a:ea typeface="Arial"/>
                <a:cs typeface="Arial"/>
                <a:sym typeface="Arial"/>
              </a:rPr>
              <a:t>Scenarios:</a:t>
            </a:r>
            <a:r>
              <a:rPr b="0" i="0" lang="en" sz="1100" u="none" cap="none" strike="noStrike">
                <a:solidFill>
                  <a:schemeClr val="dk1"/>
                </a:solidFill>
                <a:latin typeface="Arial"/>
                <a:ea typeface="Arial"/>
                <a:cs typeface="Arial"/>
                <a:sym typeface="Arial"/>
              </a:rPr>
              <a:t> Editable hypothetical match conditions.</a:t>
            </a:r>
            <a:endParaRPr b="0" i="0" sz="1100" u="none" cap="none" strike="noStrike">
              <a:solidFill>
                <a:schemeClr val="dk1"/>
              </a:solidFill>
              <a:latin typeface="Arial"/>
              <a:ea typeface="Arial"/>
              <a:cs typeface="Arial"/>
              <a:sym typeface="Arial"/>
            </a:endParaRPr>
          </a:p>
          <a:p>
            <a:pPr indent="-298450" lvl="0" marL="457200" marR="0" rtl="0" algn="l">
              <a:lnSpc>
                <a:spcPct val="115000"/>
              </a:lnSpc>
              <a:spcBef>
                <a:spcPts val="0"/>
              </a:spcBef>
              <a:spcAft>
                <a:spcPts val="0"/>
              </a:spcAft>
              <a:buClr>
                <a:schemeClr val="dk1"/>
              </a:buClr>
              <a:buSzPts val="1100"/>
              <a:buFont typeface="Arial"/>
              <a:buChar char="●"/>
            </a:pPr>
            <a:r>
              <a:rPr b="1" i="0" lang="en" sz="1100" u="none" cap="none" strike="noStrike">
                <a:solidFill>
                  <a:schemeClr val="dk1"/>
                </a:solidFill>
                <a:latin typeface="Arial"/>
                <a:ea typeface="Arial"/>
                <a:cs typeface="Arial"/>
                <a:sym typeface="Arial"/>
              </a:rPr>
              <a:t>Predictions:</a:t>
            </a:r>
            <a:r>
              <a:rPr b="0" i="0" lang="en" sz="1100" u="none" cap="none" strike="noStrike">
                <a:solidFill>
                  <a:schemeClr val="dk1"/>
                </a:solidFill>
                <a:latin typeface="Arial"/>
                <a:ea typeface="Arial"/>
                <a:cs typeface="Arial"/>
                <a:sym typeface="Arial"/>
              </a:rPr>
              <a:t> Saved results and input snapshots.</a:t>
            </a:r>
            <a:endParaRPr b="1" i="0" sz="1100" u="none" cap="none" strike="noStrike">
              <a:solidFill>
                <a:schemeClr val="dk1"/>
              </a:solidFill>
              <a:latin typeface="Arial"/>
              <a:ea typeface="Arial"/>
              <a:cs typeface="Arial"/>
              <a:sym typeface="Arial"/>
            </a:endParaRPr>
          </a:p>
          <a:p>
            <a:pPr indent="0" lvl="0" marL="457200" marR="0" rtl="0" algn="l">
              <a:lnSpc>
                <a:spcPct val="115000"/>
              </a:lnSpc>
              <a:spcBef>
                <a:spcPts val="1200"/>
              </a:spcBef>
              <a:spcAft>
                <a:spcPts val="1200"/>
              </a:spcAft>
              <a:buClr>
                <a:srgbClr val="000000"/>
              </a:buClr>
              <a:buSzPts val="1100"/>
              <a:buFont typeface="Arial"/>
              <a:buNone/>
            </a:pPr>
            <a:r>
              <a:t/>
            </a:r>
            <a:endParaRPr b="1" i="0" sz="1100" u="none" cap="none" strike="noStrike">
              <a:solidFill>
                <a:schemeClr val="dk1"/>
              </a:solidFill>
              <a:latin typeface="Arial"/>
              <a:ea typeface="Arial"/>
              <a:cs typeface="Arial"/>
              <a:sym typeface="Arial"/>
            </a:endParaRPr>
          </a:p>
        </p:txBody>
      </p:sp>
      <p:sp>
        <p:nvSpPr>
          <p:cNvPr id="128" name="Google Shape;128;p7"/>
          <p:cNvSpPr txBox="1"/>
          <p:nvPr/>
        </p:nvSpPr>
        <p:spPr>
          <a:xfrm>
            <a:off x="415838" y="1266650"/>
            <a:ext cx="2544300" cy="32286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400"/>
              </a:spcBef>
              <a:spcAft>
                <a:spcPts val="0"/>
              </a:spcAft>
              <a:buClr>
                <a:schemeClr val="dk1"/>
              </a:buClr>
              <a:buSzPts val="1100"/>
              <a:buFont typeface="Arial"/>
              <a:buNone/>
            </a:pPr>
            <a:r>
              <a:rPr b="1" i="0" lang="en" sz="1300" u="none" cap="none" strike="noStrike">
                <a:solidFill>
                  <a:schemeClr val="dk1"/>
                </a:solidFill>
                <a:latin typeface="Arial"/>
                <a:ea typeface="Arial"/>
                <a:cs typeface="Arial"/>
                <a:sym typeface="Arial"/>
              </a:rPr>
              <a:t>Database Design Decisions</a:t>
            </a:r>
            <a:endParaRPr b="1" i="0" sz="1300" u="none" cap="none" strike="noStrike">
              <a:solidFill>
                <a:schemeClr val="dk1"/>
              </a:solidFill>
              <a:latin typeface="Arial"/>
              <a:ea typeface="Arial"/>
              <a:cs typeface="Arial"/>
              <a:sym typeface="Arial"/>
            </a:endParaRPr>
          </a:p>
          <a:p>
            <a:pPr indent="-298450" lvl="0" marL="457200" marR="0" rtl="0" algn="l">
              <a:lnSpc>
                <a:spcPct val="115000"/>
              </a:lnSpc>
              <a:spcBef>
                <a:spcPts val="1200"/>
              </a:spcBef>
              <a:spcAft>
                <a:spcPts val="0"/>
              </a:spcAft>
              <a:buClr>
                <a:schemeClr val="dk1"/>
              </a:buClr>
              <a:buSzPts val="1100"/>
              <a:buFont typeface="Arial"/>
              <a:buChar char="●"/>
            </a:pPr>
            <a:r>
              <a:rPr b="0" i="0" lang="en" sz="1100" u="none" cap="none" strike="noStrike">
                <a:solidFill>
                  <a:schemeClr val="dk1"/>
                </a:solidFill>
                <a:latin typeface="Arial"/>
                <a:ea typeface="Arial"/>
                <a:cs typeface="Arial"/>
                <a:sym typeface="Arial"/>
              </a:rPr>
              <a:t>Seven foreign keys establish relationships between tables.</a:t>
            </a:r>
            <a:endParaRPr b="0" i="0" sz="1100" u="none" cap="none" strike="noStrike">
              <a:solidFill>
                <a:schemeClr val="dk1"/>
              </a:solidFill>
              <a:latin typeface="Arial"/>
              <a:ea typeface="Arial"/>
              <a:cs typeface="Arial"/>
              <a:sym typeface="Arial"/>
            </a:endParaRPr>
          </a:p>
          <a:p>
            <a:pPr indent="-298450" lvl="0" marL="457200" marR="0" rtl="0" algn="l">
              <a:lnSpc>
                <a:spcPct val="115000"/>
              </a:lnSpc>
              <a:spcBef>
                <a:spcPts val="0"/>
              </a:spcBef>
              <a:spcAft>
                <a:spcPts val="0"/>
              </a:spcAft>
              <a:buClr>
                <a:schemeClr val="dk1"/>
              </a:buClr>
              <a:buSzPts val="1100"/>
              <a:buFont typeface="Arial"/>
              <a:buChar char="●"/>
            </a:pPr>
            <a:r>
              <a:rPr b="0" i="0" lang="en" sz="1100" u="none" cap="none" strike="noStrike">
                <a:solidFill>
                  <a:schemeClr val="dk1"/>
                </a:solidFill>
                <a:latin typeface="Arial"/>
                <a:ea typeface="Arial"/>
                <a:cs typeface="Arial"/>
                <a:sym typeface="Arial"/>
              </a:rPr>
              <a:t>Normalization reduces unnecessary data duplication.</a:t>
            </a:r>
            <a:endParaRPr b="0" i="0" sz="1100" u="none" cap="none" strike="noStrike">
              <a:solidFill>
                <a:schemeClr val="dk1"/>
              </a:solidFill>
              <a:latin typeface="Arial"/>
              <a:ea typeface="Arial"/>
              <a:cs typeface="Arial"/>
              <a:sym typeface="Arial"/>
            </a:endParaRPr>
          </a:p>
          <a:p>
            <a:pPr indent="-298450" lvl="0" marL="457200" marR="0" rtl="0" algn="l">
              <a:lnSpc>
                <a:spcPct val="115000"/>
              </a:lnSpc>
              <a:spcBef>
                <a:spcPts val="0"/>
              </a:spcBef>
              <a:spcAft>
                <a:spcPts val="0"/>
              </a:spcAft>
              <a:buClr>
                <a:schemeClr val="dk1"/>
              </a:buClr>
              <a:buSzPts val="1100"/>
              <a:buFont typeface="Arial"/>
              <a:buChar char="●"/>
            </a:pPr>
            <a:r>
              <a:rPr b="0" i="0" lang="en" sz="1100" u="none" cap="none" strike="noStrike">
                <a:solidFill>
                  <a:schemeClr val="dk1"/>
                </a:solidFill>
                <a:latin typeface="Arial"/>
                <a:ea typeface="Arial"/>
                <a:cs typeface="Arial"/>
                <a:sym typeface="Arial"/>
              </a:rPr>
              <a:t>Primary keys, uniqueness rules, and CHECK constraints enforce integrity.</a:t>
            </a:r>
            <a:endParaRPr b="0" i="0" sz="1100" u="none" cap="none" strike="noStrike">
              <a:solidFill>
                <a:schemeClr val="dk1"/>
              </a:solidFill>
              <a:latin typeface="Arial"/>
              <a:ea typeface="Arial"/>
              <a:cs typeface="Arial"/>
              <a:sym typeface="Arial"/>
            </a:endParaRPr>
          </a:p>
          <a:p>
            <a:pPr indent="-298450" lvl="0" marL="457200" marR="0" rtl="0" algn="l">
              <a:lnSpc>
                <a:spcPct val="115000"/>
              </a:lnSpc>
              <a:spcBef>
                <a:spcPts val="0"/>
              </a:spcBef>
              <a:spcAft>
                <a:spcPts val="0"/>
              </a:spcAft>
              <a:buClr>
                <a:schemeClr val="dk1"/>
              </a:buClr>
              <a:buSzPts val="1100"/>
              <a:buFont typeface="Arial"/>
              <a:buChar char="●"/>
            </a:pPr>
            <a:r>
              <a:rPr b="0" i="0" lang="en" sz="1100" u="none" cap="none" strike="noStrike">
                <a:solidFill>
                  <a:schemeClr val="dk1"/>
                </a:solidFill>
                <a:latin typeface="Arial"/>
                <a:ea typeface="Arial"/>
                <a:cs typeface="Arial"/>
                <a:sym typeface="Arial"/>
              </a:rPr>
              <a:t>One scenario can have multiple saved predictions.</a:t>
            </a:r>
            <a:endParaRPr b="0" i="0" sz="1100" u="none" cap="none" strike="noStrike">
              <a:solidFill>
                <a:schemeClr val="dk1"/>
              </a:solidFill>
              <a:latin typeface="Arial"/>
              <a:ea typeface="Arial"/>
              <a:cs typeface="Arial"/>
              <a:sym typeface="Arial"/>
            </a:endParaRPr>
          </a:p>
          <a:p>
            <a:pPr indent="-298450" lvl="0" marL="457200" marR="0" rtl="0" algn="l">
              <a:lnSpc>
                <a:spcPct val="115000"/>
              </a:lnSpc>
              <a:spcBef>
                <a:spcPts val="0"/>
              </a:spcBef>
              <a:spcAft>
                <a:spcPts val="0"/>
              </a:spcAft>
              <a:buClr>
                <a:schemeClr val="dk1"/>
              </a:buClr>
              <a:buSzPts val="1100"/>
              <a:buFont typeface="Arial"/>
              <a:buChar char="●"/>
            </a:pPr>
            <a:r>
              <a:rPr b="0" i="0" lang="en" sz="1100" u="none" cap="none" strike="noStrike">
                <a:solidFill>
                  <a:schemeClr val="dk1"/>
                </a:solidFill>
                <a:latin typeface="Arial"/>
                <a:ea typeface="Arial"/>
                <a:cs typeface="Arial"/>
                <a:sym typeface="Arial"/>
              </a:rPr>
              <a:t>JSONB snapshots preserve the inputs used for earlier predictions.</a:t>
            </a:r>
            <a:endParaRPr b="0" i="0" sz="1100" u="none" cap="none" strike="noStrike">
              <a:solidFill>
                <a:schemeClr val="dk1"/>
              </a:solidFill>
              <a:latin typeface="Arial"/>
              <a:ea typeface="Arial"/>
              <a:cs typeface="Arial"/>
              <a:sym typeface="Arial"/>
            </a:endParaRPr>
          </a:p>
          <a:p>
            <a:pPr indent="0" lvl="0" marL="457200" marR="0" rtl="0" algn="l">
              <a:lnSpc>
                <a:spcPct val="115000"/>
              </a:lnSpc>
              <a:spcBef>
                <a:spcPts val="1200"/>
              </a:spcBef>
              <a:spcAft>
                <a:spcPts val="1200"/>
              </a:spcAft>
              <a:buClr>
                <a:srgbClr val="000000"/>
              </a:buClr>
              <a:buSzPts val="1100"/>
              <a:buFont typeface="Arial"/>
              <a:buNone/>
            </a:pPr>
            <a:r>
              <a:t/>
            </a:r>
            <a:endParaRPr b="1" i="0" sz="1100" u="none" cap="none" strike="noStrike">
              <a:solidFill>
                <a:schemeClr val="dk1"/>
              </a:solidFill>
              <a:latin typeface="Arial"/>
              <a:ea typeface="Arial"/>
              <a:cs typeface="Arial"/>
              <a:sym typeface="Arial"/>
            </a:endParaRPr>
          </a:p>
        </p:txBody>
      </p:sp>
      <p:pic>
        <p:nvPicPr>
          <p:cNvPr id="129" name="Google Shape;129;p7" title="elephant.png"/>
          <p:cNvPicPr preferRelativeResize="0"/>
          <p:nvPr/>
        </p:nvPicPr>
        <p:blipFill rotWithShape="1">
          <a:blip r:embed="rId4">
            <a:alphaModFix/>
          </a:blip>
          <a:srcRect b="0" l="0" r="0" t="0"/>
          <a:stretch/>
        </p:blipFill>
        <p:spPr>
          <a:xfrm>
            <a:off x="6355054" y="1229287"/>
            <a:ext cx="2602975" cy="2684925"/>
          </a:xfrm>
          <a:prstGeom prst="rect">
            <a:avLst/>
          </a:prstGeom>
          <a:noFill/>
          <a:ln>
            <a:noFill/>
          </a:ln>
        </p:spPr>
      </p:pic>
      <p:sp>
        <p:nvSpPr>
          <p:cNvPr id="130" name="Google Shape;130;p7"/>
          <p:cNvSpPr txBox="1"/>
          <p:nvPr/>
        </p:nvSpPr>
        <p:spPr>
          <a:xfrm>
            <a:off x="2681675" y="758550"/>
            <a:ext cx="3290100" cy="415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0" i="0" lang="en" sz="1500" u="none" cap="none" strike="noStrike">
                <a:solidFill>
                  <a:srgbClr val="980000"/>
                </a:solidFill>
                <a:latin typeface="Montserrat"/>
                <a:ea typeface="Montserrat"/>
                <a:cs typeface="Montserrat"/>
                <a:sym typeface="Montserrat"/>
              </a:rPr>
              <a:t>Database Design &amp; ER Diagram</a:t>
            </a:r>
            <a:endParaRPr b="0" i="0" sz="1500" u="none" cap="none" strike="noStrike">
              <a:solidFill>
                <a:srgbClr val="980000"/>
              </a:solidFill>
              <a:latin typeface="Montserrat"/>
              <a:ea typeface="Montserrat"/>
              <a:cs typeface="Montserrat"/>
              <a:sym typeface="Montserrat"/>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pic>
        <p:nvPicPr>
          <p:cNvPr id="135" name="Google Shape;135;h9b4c58a32700f6a_1_17" title="Screen Shot 2026-09-14 at 6.32.05 PM.png"/>
          <p:cNvPicPr preferRelativeResize="0"/>
          <p:nvPr/>
        </p:nvPicPr>
        <p:blipFill rotWithShape="1">
          <a:blip r:embed="rId3">
            <a:alphaModFix/>
          </a:blip>
          <a:srcRect b="0" l="0" r="0" t="0"/>
          <a:stretch/>
        </p:blipFill>
        <p:spPr>
          <a:xfrm>
            <a:off x="0" y="0"/>
            <a:ext cx="9315225" cy="5143500"/>
          </a:xfrm>
          <a:prstGeom prst="rect">
            <a:avLst/>
          </a:prstGeom>
          <a:noFill/>
          <a:ln>
            <a:noFill/>
          </a:ln>
        </p:spPr>
      </p:pic>
      <p:sp>
        <p:nvSpPr>
          <p:cNvPr id="136" name="Google Shape;136;h9b4c58a32700f6a_1_17"/>
          <p:cNvSpPr txBox="1"/>
          <p:nvPr/>
        </p:nvSpPr>
        <p:spPr>
          <a:xfrm>
            <a:off x="7771175" y="4332675"/>
            <a:ext cx="13098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500"/>
              </a:spcAft>
              <a:buClr>
                <a:srgbClr val="000000"/>
              </a:buClr>
              <a:buSzPts val="1600"/>
              <a:buFont typeface="Arial"/>
              <a:buNone/>
            </a:pPr>
            <a:r>
              <a:rPr b="0" i="0" lang="en" sz="1600" u="none" cap="none" strike="noStrike">
                <a:solidFill>
                  <a:srgbClr val="231F20"/>
                </a:solidFill>
                <a:highlight>
                  <a:srgbClr val="FFFFFF"/>
                </a:highlight>
                <a:latin typeface="Arial"/>
                <a:ea typeface="Arial"/>
                <a:cs typeface="Arial"/>
                <a:sym typeface="Arial"/>
              </a:rPr>
              <a:t>Wes Webb</a:t>
            </a:r>
            <a:endParaRPr b="0" i="0" sz="1800" u="none" cap="none" strike="noStrike">
              <a:solidFill>
                <a:schemeClr val="dk2"/>
              </a:solidFill>
              <a:latin typeface="Arial"/>
              <a:ea typeface="Arial"/>
              <a:cs typeface="Arial"/>
              <a:sym typeface="Arial"/>
            </a:endParaRPr>
          </a:p>
        </p:txBody>
      </p:sp>
      <p:pic>
        <p:nvPicPr>
          <p:cNvPr id="137" name="Google Shape;137;h9b4c58a32700f6a_1_17"/>
          <p:cNvPicPr preferRelativeResize="0"/>
          <p:nvPr/>
        </p:nvPicPr>
        <p:blipFill rotWithShape="1">
          <a:blip r:embed="rId4">
            <a:alphaModFix/>
          </a:blip>
          <a:srcRect b="0" l="0" r="0" t="0"/>
          <a:stretch/>
        </p:blipFill>
        <p:spPr>
          <a:xfrm>
            <a:off x="1933950" y="958025"/>
            <a:ext cx="5709900" cy="3681400"/>
          </a:xfrm>
          <a:prstGeom prst="rect">
            <a:avLst/>
          </a:prstGeom>
          <a:noFill/>
          <a:ln>
            <a:noFill/>
          </a:ln>
        </p:spPr>
      </p:pic>
      <p:sp>
        <p:nvSpPr>
          <p:cNvPr id="138" name="Google Shape;138;h9b4c58a32700f6a_1_17"/>
          <p:cNvSpPr txBox="1"/>
          <p:nvPr/>
        </p:nvSpPr>
        <p:spPr>
          <a:xfrm>
            <a:off x="3012563" y="110450"/>
            <a:ext cx="3290100" cy="415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0" i="0" lang="en" sz="1500" u="none" cap="none" strike="noStrike">
                <a:solidFill>
                  <a:srgbClr val="980000"/>
                </a:solidFill>
                <a:latin typeface="Montserrat"/>
                <a:ea typeface="Montserrat"/>
                <a:cs typeface="Montserrat"/>
                <a:sym typeface="Montserrat"/>
              </a:rPr>
              <a:t>Database Design &amp; ER Diagram</a:t>
            </a:r>
            <a:endParaRPr b="0" i="0" sz="1500" u="none" cap="none" strike="noStrike">
              <a:solidFill>
                <a:srgbClr val="980000"/>
              </a:solidFill>
              <a:latin typeface="Montserrat"/>
              <a:ea typeface="Montserrat"/>
              <a:cs typeface="Montserrat"/>
              <a:sym typeface="Montserrat"/>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pic>
        <p:nvPicPr>
          <p:cNvPr id="143" name="Google Shape;143;p9" title="Screen Shot 2026-09-14 at 6.32.05 PM.png"/>
          <p:cNvPicPr preferRelativeResize="0"/>
          <p:nvPr/>
        </p:nvPicPr>
        <p:blipFill rotWithShape="1">
          <a:blip r:embed="rId3">
            <a:alphaModFix/>
          </a:blip>
          <a:srcRect b="0" l="0" r="0" t="0"/>
          <a:stretch/>
        </p:blipFill>
        <p:spPr>
          <a:xfrm>
            <a:off x="0" y="0"/>
            <a:ext cx="9315225" cy="5143500"/>
          </a:xfrm>
          <a:prstGeom prst="rect">
            <a:avLst/>
          </a:prstGeom>
          <a:noFill/>
          <a:ln>
            <a:noFill/>
          </a:ln>
        </p:spPr>
      </p:pic>
      <p:sp>
        <p:nvSpPr>
          <p:cNvPr id="144" name="Google Shape;144;p9"/>
          <p:cNvSpPr txBox="1"/>
          <p:nvPr/>
        </p:nvSpPr>
        <p:spPr>
          <a:xfrm>
            <a:off x="7771175" y="4332675"/>
            <a:ext cx="13098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500"/>
              </a:spcAft>
              <a:buClr>
                <a:srgbClr val="000000"/>
              </a:buClr>
              <a:buSzPts val="1600"/>
              <a:buFont typeface="Arial"/>
              <a:buNone/>
            </a:pPr>
            <a:r>
              <a:rPr b="0" i="0" lang="en" sz="1600" u="none" cap="none" strike="noStrike">
                <a:solidFill>
                  <a:srgbClr val="231F20"/>
                </a:solidFill>
                <a:highlight>
                  <a:srgbClr val="FFFFFF"/>
                </a:highlight>
                <a:latin typeface="Arial"/>
                <a:ea typeface="Arial"/>
                <a:cs typeface="Arial"/>
                <a:sym typeface="Arial"/>
              </a:rPr>
              <a:t>Wes Webb</a:t>
            </a:r>
            <a:endParaRPr b="0" i="0" sz="1800" u="none" cap="none" strike="noStrike">
              <a:solidFill>
                <a:schemeClr val="dk2"/>
              </a:solidFill>
              <a:latin typeface="Arial"/>
              <a:ea typeface="Arial"/>
              <a:cs typeface="Arial"/>
              <a:sym typeface="Arial"/>
            </a:endParaRPr>
          </a:p>
        </p:txBody>
      </p:sp>
      <p:sp>
        <p:nvSpPr>
          <p:cNvPr id="145" name="Google Shape;145;p9"/>
          <p:cNvSpPr txBox="1"/>
          <p:nvPr/>
        </p:nvSpPr>
        <p:spPr>
          <a:xfrm>
            <a:off x="390925" y="1559400"/>
            <a:ext cx="4874100" cy="22149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0"/>
              </a:spcAft>
              <a:buClr>
                <a:srgbClr val="000000"/>
              </a:buClr>
              <a:buSzPts val="1100"/>
              <a:buFont typeface="Arial"/>
              <a:buNone/>
            </a:pPr>
            <a:r>
              <a:rPr b="1" i="0" lang="en" sz="1100" u="none" cap="none" strike="noStrike">
                <a:solidFill>
                  <a:schemeClr val="dk1"/>
                </a:solidFill>
                <a:latin typeface="Arial"/>
                <a:ea typeface="Arial"/>
                <a:cs typeface="Arial"/>
                <a:sym typeface="Arial"/>
              </a:rPr>
              <a:t>Database Integration: Goal Stats Architecture</a:t>
            </a:r>
            <a:endParaRPr b="1" i="0" sz="1100" u="none" cap="none" strike="noStrike">
              <a:solidFill>
                <a:schemeClr val="dk1"/>
              </a:solidFill>
              <a:latin typeface="Arial"/>
              <a:ea typeface="Arial"/>
              <a:cs typeface="Arial"/>
              <a:sym typeface="Arial"/>
            </a:endParaRPr>
          </a:p>
          <a:p>
            <a:pPr indent="-298450" lvl="0" marL="457200" marR="0" rtl="0" algn="l">
              <a:lnSpc>
                <a:spcPct val="115000"/>
              </a:lnSpc>
              <a:spcBef>
                <a:spcPts val="1200"/>
              </a:spcBef>
              <a:spcAft>
                <a:spcPts val="0"/>
              </a:spcAft>
              <a:buClr>
                <a:schemeClr val="dk1"/>
              </a:buClr>
              <a:buSzPts val="1100"/>
              <a:buFont typeface="Arial"/>
              <a:buChar char="●"/>
            </a:pPr>
            <a:r>
              <a:rPr b="1" i="0" lang="en" sz="1100" u="none" cap="none" strike="noStrike">
                <a:solidFill>
                  <a:schemeClr val="dk1"/>
                </a:solidFill>
                <a:latin typeface="Arial"/>
                <a:ea typeface="Arial"/>
                <a:cs typeface="Arial"/>
                <a:sym typeface="Arial"/>
              </a:rPr>
              <a:t>Frontend:</a:t>
            </a:r>
            <a:r>
              <a:rPr b="0" i="0" lang="en" sz="1100" u="none" cap="none" strike="noStrike">
                <a:solidFill>
                  <a:schemeClr val="dk1"/>
                </a:solidFill>
                <a:latin typeface="Arial"/>
                <a:ea typeface="Arial"/>
                <a:cs typeface="Arial"/>
                <a:sym typeface="Arial"/>
              </a:rPr>
              <a:t> React / Next.js deployed on Vercel.</a:t>
            </a:r>
            <a:endParaRPr b="0" i="0" sz="1100" u="none" cap="none" strike="noStrike">
              <a:solidFill>
                <a:schemeClr val="dk1"/>
              </a:solidFill>
              <a:latin typeface="Arial"/>
              <a:ea typeface="Arial"/>
              <a:cs typeface="Arial"/>
              <a:sym typeface="Arial"/>
            </a:endParaRPr>
          </a:p>
          <a:p>
            <a:pPr indent="-298450" lvl="0" marL="457200" marR="0" rtl="0" algn="l">
              <a:lnSpc>
                <a:spcPct val="115000"/>
              </a:lnSpc>
              <a:spcBef>
                <a:spcPts val="0"/>
              </a:spcBef>
              <a:spcAft>
                <a:spcPts val="0"/>
              </a:spcAft>
              <a:buClr>
                <a:schemeClr val="dk1"/>
              </a:buClr>
              <a:buSzPts val="1100"/>
              <a:buFont typeface="Arial"/>
              <a:buChar char="●"/>
            </a:pPr>
            <a:r>
              <a:rPr b="1" i="0" lang="en" sz="1100" u="none" cap="none" strike="noStrike">
                <a:solidFill>
                  <a:schemeClr val="dk1"/>
                </a:solidFill>
                <a:latin typeface="Arial"/>
                <a:ea typeface="Arial"/>
                <a:cs typeface="Arial"/>
                <a:sym typeface="Arial"/>
              </a:rPr>
              <a:t>Backend:</a:t>
            </a:r>
            <a:r>
              <a:rPr b="0" i="0" lang="en" sz="1100" u="none" cap="none" strike="noStrike">
                <a:solidFill>
                  <a:schemeClr val="dk1"/>
                </a:solidFill>
                <a:latin typeface="Arial"/>
                <a:ea typeface="Arial"/>
                <a:cs typeface="Arial"/>
                <a:sym typeface="Arial"/>
              </a:rPr>
              <a:t> Flask REST API deployed on Render.</a:t>
            </a:r>
            <a:endParaRPr b="0" i="0" sz="1100" u="none" cap="none" strike="noStrike">
              <a:solidFill>
                <a:schemeClr val="dk1"/>
              </a:solidFill>
              <a:latin typeface="Arial"/>
              <a:ea typeface="Arial"/>
              <a:cs typeface="Arial"/>
              <a:sym typeface="Arial"/>
            </a:endParaRPr>
          </a:p>
          <a:p>
            <a:pPr indent="-298450" lvl="0" marL="457200" marR="0" rtl="0" algn="l">
              <a:lnSpc>
                <a:spcPct val="115000"/>
              </a:lnSpc>
              <a:spcBef>
                <a:spcPts val="0"/>
              </a:spcBef>
              <a:spcAft>
                <a:spcPts val="0"/>
              </a:spcAft>
              <a:buClr>
                <a:schemeClr val="dk1"/>
              </a:buClr>
              <a:buSzPts val="1100"/>
              <a:buFont typeface="Arial"/>
              <a:buChar char="●"/>
            </a:pPr>
            <a:r>
              <a:rPr b="1" i="0" lang="en" sz="1100" u="none" cap="none" strike="noStrike">
                <a:solidFill>
                  <a:schemeClr val="dk1"/>
                </a:solidFill>
                <a:latin typeface="Arial"/>
                <a:ea typeface="Arial"/>
                <a:cs typeface="Arial"/>
                <a:sym typeface="Arial"/>
              </a:rPr>
              <a:t>Database:</a:t>
            </a:r>
            <a:r>
              <a:rPr b="0" i="0" lang="en" sz="1100" u="none" cap="none" strike="noStrike">
                <a:solidFill>
                  <a:schemeClr val="dk1"/>
                </a:solidFill>
                <a:latin typeface="Arial"/>
                <a:ea typeface="Arial"/>
                <a:cs typeface="Arial"/>
                <a:sym typeface="Arial"/>
              </a:rPr>
              <a:t> PostgreSQL accessed through SQLAlchemy.</a:t>
            </a:r>
            <a:endParaRPr b="0" i="0" sz="1100" u="none" cap="none" strike="noStrike">
              <a:solidFill>
                <a:schemeClr val="dk1"/>
              </a:solidFill>
              <a:latin typeface="Arial"/>
              <a:ea typeface="Arial"/>
              <a:cs typeface="Arial"/>
              <a:sym typeface="Arial"/>
            </a:endParaRPr>
          </a:p>
          <a:p>
            <a:pPr indent="-298450" lvl="0" marL="457200" marR="0" rtl="0" algn="l">
              <a:lnSpc>
                <a:spcPct val="115000"/>
              </a:lnSpc>
              <a:spcBef>
                <a:spcPts val="0"/>
              </a:spcBef>
              <a:spcAft>
                <a:spcPts val="0"/>
              </a:spcAft>
              <a:buClr>
                <a:schemeClr val="dk1"/>
              </a:buClr>
              <a:buSzPts val="1100"/>
              <a:buFont typeface="Arial"/>
              <a:buChar char="●"/>
            </a:pPr>
            <a:r>
              <a:rPr b="1" i="0" lang="en" sz="1100" u="none" cap="none" strike="noStrike">
                <a:solidFill>
                  <a:schemeClr val="dk1"/>
                </a:solidFill>
                <a:latin typeface="Arial"/>
                <a:ea typeface="Arial"/>
                <a:cs typeface="Arial"/>
                <a:sym typeface="Arial"/>
              </a:rPr>
              <a:t>Operations:</a:t>
            </a:r>
            <a:r>
              <a:rPr b="0" i="0" lang="en" sz="1100" u="none" cap="none" strike="noStrike">
                <a:solidFill>
                  <a:schemeClr val="dk1"/>
                </a:solidFill>
                <a:latin typeface="Arial"/>
                <a:ea typeface="Arial"/>
                <a:cs typeface="Arial"/>
                <a:sym typeface="Arial"/>
              </a:rPr>
              <a:t> SELECT, JOIN, INSERT, and UPDATE.</a:t>
            </a:r>
            <a:endParaRPr b="0" i="0" sz="1100" u="none" cap="none" strike="noStrike">
              <a:solidFill>
                <a:schemeClr val="dk1"/>
              </a:solidFill>
              <a:latin typeface="Arial"/>
              <a:ea typeface="Arial"/>
              <a:cs typeface="Arial"/>
              <a:sym typeface="Arial"/>
            </a:endParaRPr>
          </a:p>
          <a:p>
            <a:pPr indent="-298450" lvl="0" marL="457200" marR="0" rtl="0" algn="l">
              <a:lnSpc>
                <a:spcPct val="115000"/>
              </a:lnSpc>
              <a:spcBef>
                <a:spcPts val="0"/>
              </a:spcBef>
              <a:spcAft>
                <a:spcPts val="0"/>
              </a:spcAft>
              <a:buClr>
                <a:schemeClr val="dk1"/>
              </a:buClr>
              <a:buSzPts val="1100"/>
              <a:buFont typeface="Arial"/>
              <a:buChar char="●"/>
            </a:pPr>
            <a:r>
              <a:rPr b="1" i="0" lang="en" sz="1100" u="none" cap="none" strike="noStrike">
                <a:solidFill>
                  <a:schemeClr val="dk1"/>
                </a:solidFill>
                <a:latin typeface="Arial"/>
                <a:ea typeface="Arial"/>
                <a:cs typeface="Arial"/>
                <a:sym typeface="Arial"/>
              </a:rPr>
              <a:t>Transactions:</a:t>
            </a:r>
            <a:r>
              <a:rPr b="0" i="0" lang="en" sz="1100" u="none" cap="none" strike="noStrike">
                <a:solidFill>
                  <a:schemeClr val="dk1"/>
                </a:solidFill>
                <a:latin typeface="Arial"/>
                <a:ea typeface="Arial"/>
                <a:cs typeface="Arial"/>
                <a:sym typeface="Arial"/>
              </a:rPr>
              <a:t> Validate and protect database changes.</a:t>
            </a:r>
            <a:endParaRPr b="1" i="0" sz="1100" u="none" cap="none" strike="noStrike">
              <a:solidFill>
                <a:schemeClr val="dk1"/>
              </a:solidFill>
              <a:latin typeface="Arial"/>
              <a:ea typeface="Arial"/>
              <a:cs typeface="Arial"/>
              <a:sym typeface="Arial"/>
            </a:endParaRPr>
          </a:p>
          <a:p>
            <a:pPr indent="0" lvl="0" marL="457200" marR="0" rtl="0" algn="l">
              <a:lnSpc>
                <a:spcPct val="100000"/>
              </a:lnSpc>
              <a:spcBef>
                <a:spcPts val="1200"/>
              </a:spcBef>
              <a:spcAft>
                <a:spcPts val="0"/>
              </a:spcAft>
              <a:buClr>
                <a:srgbClr val="000000"/>
              </a:buClr>
              <a:buSzPts val="1800"/>
              <a:buFont typeface="Arial"/>
              <a:buNone/>
            </a:pPr>
            <a:r>
              <a:t/>
            </a:r>
            <a:endParaRPr b="0" i="0" sz="1800" u="none" cap="none" strike="noStrike">
              <a:solidFill>
                <a:schemeClr val="dk1"/>
              </a:solidFill>
              <a:highlight>
                <a:schemeClr val="lt1"/>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2"/>
              </a:solidFill>
              <a:latin typeface="Arial"/>
              <a:ea typeface="Arial"/>
              <a:cs typeface="Arial"/>
              <a:sym typeface="Arial"/>
            </a:endParaRPr>
          </a:p>
        </p:txBody>
      </p:sp>
      <p:sp>
        <p:nvSpPr>
          <p:cNvPr id="146" name="Google Shape;146;p9"/>
          <p:cNvSpPr txBox="1"/>
          <p:nvPr/>
        </p:nvSpPr>
        <p:spPr>
          <a:xfrm>
            <a:off x="4572000" y="1559400"/>
            <a:ext cx="4874100" cy="2024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0"/>
              </a:spcAft>
              <a:buClr>
                <a:schemeClr val="dk1"/>
              </a:buClr>
              <a:buSzPts val="1100"/>
              <a:buFont typeface="Arial"/>
              <a:buNone/>
            </a:pPr>
            <a:r>
              <a:rPr b="1" i="0" lang="en" sz="1100" u="none" cap="none" strike="noStrike">
                <a:solidFill>
                  <a:schemeClr val="dk1"/>
                </a:solidFill>
                <a:latin typeface="Arial"/>
                <a:ea typeface="Arial"/>
                <a:cs typeface="Arial"/>
                <a:sym typeface="Arial"/>
              </a:rPr>
              <a:t>Database-Driven Prediction Workflow</a:t>
            </a:r>
            <a:endParaRPr b="1" i="0" sz="1100" u="none" cap="none" strike="noStrike">
              <a:solidFill>
                <a:schemeClr val="dk1"/>
              </a:solidFill>
              <a:latin typeface="Arial"/>
              <a:ea typeface="Arial"/>
              <a:cs typeface="Arial"/>
              <a:sym typeface="Arial"/>
            </a:endParaRPr>
          </a:p>
          <a:p>
            <a:pPr indent="-298450" lvl="0" marL="457200" marR="0" rtl="0" algn="l">
              <a:lnSpc>
                <a:spcPct val="115000"/>
              </a:lnSpc>
              <a:spcBef>
                <a:spcPts val="1200"/>
              </a:spcBef>
              <a:spcAft>
                <a:spcPts val="0"/>
              </a:spcAft>
              <a:buClr>
                <a:schemeClr val="dk1"/>
              </a:buClr>
              <a:buSzPts val="1100"/>
              <a:buFont typeface="Arial"/>
              <a:buChar char="●"/>
            </a:pPr>
            <a:r>
              <a:rPr b="1" i="0" lang="en" sz="1100" u="none" cap="none" strike="noStrike">
                <a:solidFill>
                  <a:schemeClr val="dk1"/>
                </a:solidFill>
                <a:latin typeface="Arial"/>
                <a:ea typeface="Arial"/>
                <a:cs typeface="Arial"/>
                <a:sym typeface="Arial"/>
              </a:rPr>
              <a:t>Preview:</a:t>
            </a:r>
            <a:r>
              <a:rPr b="0" i="0" lang="en" sz="1100" u="none" cap="none" strike="noStrike">
                <a:solidFill>
                  <a:schemeClr val="dk1"/>
                </a:solidFill>
                <a:latin typeface="Arial"/>
                <a:ea typeface="Arial"/>
                <a:cs typeface="Arial"/>
                <a:sym typeface="Arial"/>
              </a:rPr>
              <a:t> Calculate a prediction without saving.</a:t>
            </a:r>
            <a:endParaRPr b="0" i="0" sz="1100" u="none" cap="none" strike="noStrike">
              <a:solidFill>
                <a:schemeClr val="dk1"/>
              </a:solidFill>
              <a:latin typeface="Arial"/>
              <a:ea typeface="Arial"/>
              <a:cs typeface="Arial"/>
              <a:sym typeface="Arial"/>
            </a:endParaRPr>
          </a:p>
          <a:p>
            <a:pPr indent="-298450" lvl="0" marL="457200" marR="0" rtl="0" algn="l">
              <a:lnSpc>
                <a:spcPct val="115000"/>
              </a:lnSpc>
              <a:spcBef>
                <a:spcPts val="0"/>
              </a:spcBef>
              <a:spcAft>
                <a:spcPts val="0"/>
              </a:spcAft>
              <a:buClr>
                <a:schemeClr val="dk1"/>
              </a:buClr>
              <a:buSzPts val="1100"/>
              <a:buFont typeface="Arial"/>
              <a:buChar char="●"/>
            </a:pPr>
            <a:r>
              <a:rPr b="1" i="0" lang="en" sz="1100" u="none" cap="none" strike="noStrike">
                <a:solidFill>
                  <a:schemeClr val="dk1"/>
                </a:solidFill>
                <a:latin typeface="Arial"/>
                <a:ea typeface="Arial"/>
                <a:cs typeface="Arial"/>
                <a:sym typeface="Arial"/>
              </a:rPr>
              <a:t>Save:</a:t>
            </a:r>
            <a:r>
              <a:rPr b="0" i="0" lang="en" sz="1100" u="none" cap="none" strike="noStrike">
                <a:solidFill>
                  <a:schemeClr val="dk1"/>
                </a:solidFill>
                <a:latin typeface="Arial"/>
                <a:ea typeface="Arial"/>
                <a:cs typeface="Arial"/>
                <a:sym typeface="Arial"/>
              </a:rPr>
              <a:t> Create a scenario, then store its prediction.</a:t>
            </a:r>
            <a:endParaRPr b="0" i="0" sz="1100" u="none" cap="none" strike="noStrike">
              <a:solidFill>
                <a:schemeClr val="dk1"/>
              </a:solidFill>
              <a:latin typeface="Arial"/>
              <a:ea typeface="Arial"/>
              <a:cs typeface="Arial"/>
              <a:sym typeface="Arial"/>
            </a:endParaRPr>
          </a:p>
          <a:p>
            <a:pPr indent="-298450" lvl="0" marL="457200" marR="0" rtl="0" algn="l">
              <a:lnSpc>
                <a:spcPct val="115000"/>
              </a:lnSpc>
              <a:spcBef>
                <a:spcPts val="0"/>
              </a:spcBef>
              <a:spcAft>
                <a:spcPts val="0"/>
              </a:spcAft>
              <a:buClr>
                <a:schemeClr val="dk1"/>
              </a:buClr>
              <a:buSzPts val="1100"/>
              <a:buFont typeface="Arial"/>
              <a:buChar char="●"/>
            </a:pPr>
            <a:r>
              <a:rPr b="1" i="0" lang="en" sz="1100" u="none" cap="none" strike="noStrike">
                <a:solidFill>
                  <a:schemeClr val="dk1"/>
                </a:solidFill>
                <a:latin typeface="Arial"/>
                <a:ea typeface="Arial"/>
                <a:cs typeface="Arial"/>
                <a:sym typeface="Arial"/>
              </a:rPr>
              <a:t>Update:</a:t>
            </a:r>
            <a:r>
              <a:rPr b="0" i="0" lang="en" sz="1100" u="none" cap="none" strike="noStrike">
                <a:solidFill>
                  <a:schemeClr val="dk1"/>
                </a:solidFill>
                <a:latin typeface="Arial"/>
                <a:ea typeface="Arial"/>
                <a:cs typeface="Arial"/>
                <a:sym typeface="Arial"/>
              </a:rPr>
              <a:t> Modify scenario statistics using transactions and row locking.</a:t>
            </a:r>
            <a:endParaRPr b="0" i="0" sz="1100" u="none" cap="none" strike="noStrike">
              <a:solidFill>
                <a:schemeClr val="dk1"/>
              </a:solidFill>
              <a:latin typeface="Arial"/>
              <a:ea typeface="Arial"/>
              <a:cs typeface="Arial"/>
              <a:sym typeface="Arial"/>
            </a:endParaRPr>
          </a:p>
          <a:p>
            <a:pPr indent="-298450" lvl="0" marL="457200" marR="0" rtl="0" algn="l">
              <a:lnSpc>
                <a:spcPct val="115000"/>
              </a:lnSpc>
              <a:spcBef>
                <a:spcPts val="0"/>
              </a:spcBef>
              <a:spcAft>
                <a:spcPts val="0"/>
              </a:spcAft>
              <a:buClr>
                <a:schemeClr val="dk1"/>
              </a:buClr>
              <a:buSzPts val="1100"/>
              <a:buFont typeface="Arial"/>
              <a:buChar char="●"/>
            </a:pPr>
            <a:r>
              <a:rPr b="1" i="0" lang="en" sz="1100" u="none" cap="none" strike="noStrike">
                <a:solidFill>
                  <a:schemeClr val="dk1"/>
                </a:solidFill>
                <a:latin typeface="Arial"/>
                <a:ea typeface="Arial"/>
                <a:cs typeface="Arial"/>
                <a:sym typeface="Arial"/>
              </a:rPr>
              <a:t>Retrieve:</a:t>
            </a:r>
            <a:r>
              <a:rPr b="0" i="0" lang="en" sz="1100" u="none" cap="none" strike="noStrike">
                <a:solidFill>
                  <a:schemeClr val="dk1"/>
                </a:solidFill>
                <a:latin typeface="Arial"/>
                <a:ea typeface="Arial"/>
                <a:cs typeface="Arial"/>
                <a:sym typeface="Arial"/>
              </a:rPr>
              <a:t> Load saved predictions and snapshots for History and Analytics.</a:t>
            </a:r>
            <a:endParaRPr b="0" i="0" sz="1100" u="none" cap="none" strike="noStrike">
              <a:solidFill>
                <a:schemeClr val="dk1"/>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1800"/>
              <a:buFont typeface="Arial"/>
              <a:buNone/>
            </a:pPr>
            <a:r>
              <a:t/>
            </a:r>
            <a:endParaRPr b="1" i="0" sz="1100" u="none" cap="none" strike="noStrike">
              <a:solidFill>
                <a:schemeClr val="dk1"/>
              </a:solidFill>
              <a:latin typeface="Arial"/>
              <a:ea typeface="Arial"/>
              <a:cs typeface="Arial"/>
              <a:sym typeface="Arial"/>
            </a:endParaRPr>
          </a:p>
        </p:txBody>
      </p:sp>
      <p:pic>
        <p:nvPicPr>
          <p:cNvPr id="147" name="Google Shape;147;p9"/>
          <p:cNvPicPr preferRelativeResize="0"/>
          <p:nvPr/>
        </p:nvPicPr>
        <p:blipFill rotWithShape="1">
          <a:blip r:embed="rId4">
            <a:alphaModFix/>
          </a:blip>
          <a:srcRect b="0" l="0" r="0" t="0"/>
          <a:stretch/>
        </p:blipFill>
        <p:spPr>
          <a:xfrm>
            <a:off x="1432625" y="3128575"/>
            <a:ext cx="5873900" cy="1635199"/>
          </a:xfrm>
          <a:prstGeom prst="rect">
            <a:avLst/>
          </a:prstGeom>
          <a:noFill/>
          <a:ln>
            <a:noFill/>
          </a:ln>
        </p:spPr>
      </p:pic>
      <p:sp>
        <p:nvSpPr>
          <p:cNvPr id="148" name="Google Shape;148;p9"/>
          <p:cNvSpPr txBox="1"/>
          <p:nvPr/>
        </p:nvSpPr>
        <p:spPr>
          <a:xfrm>
            <a:off x="2724524" y="830550"/>
            <a:ext cx="4874100" cy="415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0" i="0" lang="en" sz="1500" u="none" cap="none" strike="noStrike">
                <a:solidFill>
                  <a:srgbClr val="980000"/>
                </a:solidFill>
                <a:latin typeface="Montserrat"/>
                <a:ea typeface="Montserrat"/>
                <a:cs typeface="Montserrat"/>
                <a:sym typeface="Montserrat"/>
              </a:rPr>
              <a:t>Database Integration &amp; Application Architecture</a:t>
            </a:r>
            <a:endParaRPr b="0" i="0" sz="1500" u="none" cap="none" strike="noStrike">
              <a:solidFill>
                <a:srgbClr val="980000"/>
              </a:solidFill>
              <a:latin typeface="Montserrat"/>
              <a:ea typeface="Montserrat"/>
              <a:cs typeface="Montserrat"/>
              <a:sym typeface="Montserra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pic>
        <p:nvPicPr>
          <p:cNvPr id="153" name="Google Shape;153;p10" title="Screen Shot 2026-09-14 at 6.32.05 PM.png"/>
          <p:cNvPicPr preferRelativeResize="0"/>
          <p:nvPr/>
        </p:nvPicPr>
        <p:blipFill rotWithShape="1">
          <a:blip r:embed="rId3">
            <a:alphaModFix/>
          </a:blip>
          <a:srcRect b="0" l="0" r="0" t="0"/>
          <a:stretch/>
        </p:blipFill>
        <p:spPr>
          <a:xfrm>
            <a:off x="0" y="0"/>
            <a:ext cx="9315225" cy="5143500"/>
          </a:xfrm>
          <a:prstGeom prst="rect">
            <a:avLst/>
          </a:prstGeom>
          <a:noFill/>
          <a:ln>
            <a:noFill/>
          </a:ln>
        </p:spPr>
      </p:pic>
      <p:sp>
        <p:nvSpPr>
          <p:cNvPr id="154" name="Google Shape;154;p10"/>
          <p:cNvSpPr txBox="1"/>
          <p:nvPr/>
        </p:nvSpPr>
        <p:spPr>
          <a:xfrm>
            <a:off x="7405800" y="4357875"/>
            <a:ext cx="17382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500"/>
              </a:spcAft>
              <a:buClr>
                <a:srgbClr val="000000"/>
              </a:buClr>
              <a:buSzPts val="1600"/>
              <a:buFont typeface="Arial"/>
              <a:buNone/>
            </a:pPr>
            <a:r>
              <a:rPr b="0" i="0" lang="en" sz="1600" u="none" cap="none" strike="noStrike">
                <a:solidFill>
                  <a:srgbClr val="231F20"/>
                </a:solidFill>
                <a:highlight>
                  <a:srgbClr val="FFFFFF"/>
                </a:highlight>
                <a:latin typeface="Arial"/>
                <a:ea typeface="Arial"/>
                <a:cs typeface="Arial"/>
                <a:sym typeface="Arial"/>
              </a:rPr>
              <a:t>Esteban Naranjo</a:t>
            </a:r>
            <a:endParaRPr b="0" i="0" sz="1800" u="none" cap="none" strike="noStrike">
              <a:solidFill>
                <a:schemeClr val="dk2"/>
              </a:solidFill>
              <a:latin typeface="Arial"/>
              <a:ea typeface="Arial"/>
              <a:cs typeface="Arial"/>
              <a:sym typeface="Arial"/>
            </a:endParaRPr>
          </a:p>
        </p:txBody>
      </p:sp>
      <p:pic>
        <p:nvPicPr>
          <p:cNvPr id="155" name="Google Shape;155;p10" title="Screenshot 2026-10-17 at 6.59.38 PM.png"/>
          <p:cNvPicPr preferRelativeResize="0"/>
          <p:nvPr/>
        </p:nvPicPr>
        <p:blipFill rotWithShape="1">
          <a:blip r:embed="rId4">
            <a:alphaModFix/>
          </a:blip>
          <a:srcRect b="0" l="0" r="0" t="0"/>
          <a:stretch/>
        </p:blipFill>
        <p:spPr>
          <a:xfrm>
            <a:off x="-82300" y="0"/>
            <a:ext cx="9443476" cy="51435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pic>
        <p:nvPicPr>
          <p:cNvPr id="160" name="Google Shape;160;p11" title="Screen Shot 2026-09-14 at 6.32.05 PM.png"/>
          <p:cNvPicPr preferRelativeResize="0"/>
          <p:nvPr/>
        </p:nvPicPr>
        <p:blipFill rotWithShape="1">
          <a:blip r:embed="rId3">
            <a:alphaModFix/>
          </a:blip>
          <a:srcRect b="0" l="0" r="0" t="0"/>
          <a:stretch/>
        </p:blipFill>
        <p:spPr>
          <a:xfrm>
            <a:off x="0" y="0"/>
            <a:ext cx="9315225" cy="5143500"/>
          </a:xfrm>
          <a:prstGeom prst="rect">
            <a:avLst/>
          </a:prstGeom>
          <a:noFill/>
          <a:ln>
            <a:noFill/>
          </a:ln>
        </p:spPr>
      </p:pic>
      <p:sp>
        <p:nvSpPr>
          <p:cNvPr id="161" name="Google Shape;161;p11"/>
          <p:cNvSpPr txBox="1"/>
          <p:nvPr/>
        </p:nvSpPr>
        <p:spPr>
          <a:xfrm>
            <a:off x="7443600" y="4282300"/>
            <a:ext cx="17004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500"/>
              </a:spcAft>
              <a:buClr>
                <a:srgbClr val="000000"/>
              </a:buClr>
              <a:buSzPts val="1600"/>
              <a:buFont typeface="Arial"/>
              <a:buNone/>
            </a:pPr>
            <a:r>
              <a:rPr b="0" i="0" lang="en" sz="1600" u="none" cap="none" strike="noStrike">
                <a:solidFill>
                  <a:srgbClr val="231F20"/>
                </a:solidFill>
                <a:highlight>
                  <a:srgbClr val="FFFFFF"/>
                </a:highlight>
                <a:latin typeface="Arial"/>
                <a:ea typeface="Arial"/>
                <a:cs typeface="Arial"/>
                <a:sym typeface="Arial"/>
              </a:rPr>
              <a:t>Esteban Naranjo</a:t>
            </a:r>
            <a:endParaRPr b="0" i="0" sz="1800" u="none" cap="none" strike="noStrike">
              <a:solidFill>
                <a:schemeClr val="dk2"/>
              </a:solidFill>
              <a:latin typeface="Arial"/>
              <a:ea typeface="Arial"/>
              <a:cs typeface="Arial"/>
              <a:sym typeface="Arial"/>
            </a:endParaRPr>
          </a:p>
        </p:txBody>
      </p:sp>
      <p:pic>
        <p:nvPicPr>
          <p:cNvPr id="162" name="Google Shape;162;p11" title="Screenshot 2026-10-17 at 7.13.18 PM.png"/>
          <p:cNvPicPr preferRelativeResize="0"/>
          <p:nvPr/>
        </p:nvPicPr>
        <p:blipFill rotWithShape="1">
          <a:blip r:embed="rId4">
            <a:alphaModFix/>
          </a:blip>
          <a:srcRect b="0" l="0" r="0" t="0"/>
          <a:stretch/>
        </p:blipFill>
        <p:spPr>
          <a:xfrm>
            <a:off x="25" y="-51425"/>
            <a:ext cx="9315200" cy="519492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pic>
        <p:nvPicPr>
          <p:cNvPr id="167" name="Google Shape;167;p12" title="Screen Shot 2026-09-14 at 6.32.05 PM.png"/>
          <p:cNvPicPr preferRelativeResize="0"/>
          <p:nvPr/>
        </p:nvPicPr>
        <p:blipFill rotWithShape="1">
          <a:blip r:embed="rId3">
            <a:alphaModFix/>
          </a:blip>
          <a:srcRect b="0" l="0" r="0" t="0"/>
          <a:stretch/>
        </p:blipFill>
        <p:spPr>
          <a:xfrm>
            <a:off x="0" y="0"/>
            <a:ext cx="9315225" cy="5143500"/>
          </a:xfrm>
          <a:prstGeom prst="rect">
            <a:avLst/>
          </a:prstGeom>
          <a:noFill/>
          <a:ln>
            <a:noFill/>
          </a:ln>
        </p:spPr>
      </p:pic>
      <p:pic>
        <p:nvPicPr>
          <p:cNvPr id="168" name="Google Shape;168;p12"/>
          <p:cNvPicPr preferRelativeResize="0"/>
          <p:nvPr/>
        </p:nvPicPr>
        <p:blipFill rotWithShape="1">
          <a:blip r:embed="rId4">
            <a:alphaModFix/>
          </a:blip>
          <a:srcRect b="0" l="0" r="0" t="0"/>
          <a:stretch/>
        </p:blipFill>
        <p:spPr>
          <a:xfrm>
            <a:off x="2425" y="0"/>
            <a:ext cx="9315226" cy="514349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